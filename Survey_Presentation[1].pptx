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sldIdLst>
    <p:sldId id="256" r:id="rId2"/>
    <p:sldId id="258" r:id="rId3"/>
    <p:sldId id="259" r:id="rId4"/>
    <p:sldId id="261" r:id="rId5"/>
    <p:sldId id="262" r:id="rId6"/>
    <p:sldId id="263" r:id="rId7"/>
    <p:sldId id="2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405B8-01E0-D4AA-6321-C396667631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943C079-3773-1DEC-C3AE-C0390BB223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738B59D-12D7-2CAA-DB84-2D0B3B005DD8}"/>
              </a:ext>
            </a:extLst>
          </p:cNvPr>
          <p:cNvSpPr>
            <a:spLocks noGrp="1"/>
          </p:cNvSpPr>
          <p:nvPr>
            <p:ph type="dt" sz="half" idx="10"/>
          </p:nvPr>
        </p:nvSpPr>
        <p:spPr/>
        <p:txBody>
          <a:bodyPr/>
          <a:lstStyle/>
          <a:p>
            <a:fld id="{0FB0B71B-2C65-410B-A139-F2A17F820994}" type="datetimeFigureOut">
              <a:rPr lang="en-US" smtClean="0"/>
              <a:t>11/18/2025</a:t>
            </a:fld>
            <a:endParaRPr lang="en-US"/>
          </a:p>
        </p:txBody>
      </p:sp>
      <p:sp>
        <p:nvSpPr>
          <p:cNvPr id="5" name="Footer Placeholder 4">
            <a:extLst>
              <a:ext uri="{FF2B5EF4-FFF2-40B4-BE49-F238E27FC236}">
                <a16:creationId xmlns:a16="http://schemas.microsoft.com/office/drawing/2014/main" id="{BE9D3593-2636-995A-DF03-B1199693A8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18DEE2-06D4-85C6-5ADB-FE2EDE1C1D8C}"/>
              </a:ext>
            </a:extLst>
          </p:cNvPr>
          <p:cNvSpPr>
            <a:spLocks noGrp="1"/>
          </p:cNvSpPr>
          <p:nvPr>
            <p:ph type="sldNum" sz="quarter" idx="12"/>
          </p:nvPr>
        </p:nvSpPr>
        <p:spPr/>
        <p:txBody>
          <a:bodyPr/>
          <a:lstStyle/>
          <a:p>
            <a:fld id="{6A2F85D8-6B18-4076-A2BA-E033E9041B64}" type="slidenum">
              <a:rPr lang="en-US" smtClean="0"/>
              <a:t>‹#›</a:t>
            </a:fld>
            <a:endParaRPr lang="en-US"/>
          </a:p>
        </p:txBody>
      </p:sp>
    </p:spTree>
    <p:extLst>
      <p:ext uri="{BB962C8B-B14F-4D97-AF65-F5344CB8AC3E}">
        <p14:creationId xmlns:p14="http://schemas.microsoft.com/office/powerpoint/2010/main" val="2039906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9E0D0-7E30-D9D7-FA5A-6985780518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CAA857-2033-85DF-9346-6D11870DB1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55FB5A-6393-727B-1B51-63D912B4A3E2}"/>
              </a:ext>
            </a:extLst>
          </p:cNvPr>
          <p:cNvSpPr>
            <a:spLocks noGrp="1"/>
          </p:cNvSpPr>
          <p:nvPr>
            <p:ph type="dt" sz="half" idx="10"/>
          </p:nvPr>
        </p:nvSpPr>
        <p:spPr/>
        <p:txBody>
          <a:bodyPr/>
          <a:lstStyle/>
          <a:p>
            <a:fld id="{0FB0B71B-2C65-410B-A139-F2A17F820994}" type="datetimeFigureOut">
              <a:rPr lang="en-US" smtClean="0"/>
              <a:t>11/18/2025</a:t>
            </a:fld>
            <a:endParaRPr lang="en-US"/>
          </a:p>
        </p:txBody>
      </p:sp>
      <p:sp>
        <p:nvSpPr>
          <p:cNvPr id="5" name="Footer Placeholder 4">
            <a:extLst>
              <a:ext uri="{FF2B5EF4-FFF2-40B4-BE49-F238E27FC236}">
                <a16:creationId xmlns:a16="http://schemas.microsoft.com/office/drawing/2014/main" id="{6875CC3F-FB5D-DF6D-5F64-E6DE55451D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344334-6313-53E7-9ED5-57AD02EFA253}"/>
              </a:ext>
            </a:extLst>
          </p:cNvPr>
          <p:cNvSpPr>
            <a:spLocks noGrp="1"/>
          </p:cNvSpPr>
          <p:nvPr>
            <p:ph type="sldNum" sz="quarter" idx="12"/>
          </p:nvPr>
        </p:nvSpPr>
        <p:spPr/>
        <p:txBody>
          <a:bodyPr/>
          <a:lstStyle/>
          <a:p>
            <a:fld id="{6A2F85D8-6B18-4076-A2BA-E033E9041B64}" type="slidenum">
              <a:rPr lang="en-US" smtClean="0"/>
              <a:t>‹#›</a:t>
            </a:fld>
            <a:endParaRPr lang="en-US"/>
          </a:p>
        </p:txBody>
      </p:sp>
    </p:spTree>
    <p:extLst>
      <p:ext uri="{BB962C8B-B14F-4D97-AF65-F5344CB8AC3E}">
        <p14:creationId xmlns:p14="http://schemas.microsoft.com/office/powerpoint/2010/main" val="1313680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60CC5-1E68-A7E2-F739-658CF3C78C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600D815-228C-E6C2-939F-79CE33B185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4DE3C4-094A-7624-8C67-F14BC75EB11F}"/>
              </a:ext>
            </a:extLst>
          </p:cNvPr>
          <p:cNvSpPr>
            <a:spLocks noGrp="1"/>
          </p:cNvSpPr>
          <p:nvPr>
            <p:ph type="dt" sz="half" idx="10"/>
          </p:nvPr>
        </p:nvSpPr>
        <p:spPr/>
        <p:txBody>
          <a:bodyPr/>
          <a:lstStyle/>
          <a:p>
            <a:fld id="{0FB0B71B-2C65-410B-A139-F2A17F820994}" type="datetimeFigureOut">
              <a:rPr lang="en-US" smtClean="0"/>
              <a:t>11/18/2025</a:t>
            </a:fld>
            <a:endParaRPr lang="en-US"/>
          </a:p>
        </p:txBody>
      </p:sp>
      <p:sp>
        <p:nvSpPr>
          <p:cNvPr id="5" name="Footer Placeholder 4">
            <a:extLst>
              <a:ext uri="{FF2B5EF4-FFF2-40B4-BE49-F238E27FC236}">
                <a16:creationId xmlns:a16="http://schemas.microsoft.com/office/drawing/2014/main" id="{FF14A7B6-0A68-0921-F024-CCA41B8F88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5A195D-52F5-8601-440F-44714E14046F}"/>
              </a:ext>
            </a:extLst>
          </p:cNvPr>
          <p:cNvSpPr>
            <a:spLocks noGrp="1"/>
          </p:cNvSpPr>
          <p:nvPr>
            <p:ph type="sldNum" sz="quarter" idx="12"/>
          </p:nvPr>
        </p:nvSpPr>
        <p:spPr/>
        <p:txBody>
          <a:bodyPr/>
          <a:lstStyle/>
          <a:p>
            <a:fld id="{6A2F85D8-6B18-4076-A2BA-E033E9041B64}" type="slidenum">
              <a:rPr lang="en-US" smtClean="0"/>
              <a:t>‹#›</a:t>
            </a:fld>
            <a:endParaRPr lang="en-US"/>
          </a:p>
        </p:txBody>
      </p:sp>
    </p:spTree>
    <p:extLst>
      <p:ext uri="{BB962C8B-B14F-4D97-AF65-F5344CB8AC3E}">
        <p14:creationId xmlns:p14="http://schemas.microsoft.com/office/powerpoint/2010/main" val="1785613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985EC-1D4C-D419-FF77-523A6EE8C0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A3F2B4-832F-4ED9-EB54-F57000DDC6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6D6963-AD8F-D1AF-1732-9C0D2A5E81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19E222-AC60-5894-E81D-D33307A61AA1}"/>
              </a:ext>
            </a:extLst>
          </p:cNvPr>
          <p:cNvSpPr>
            <a:spLocks noGrp="1"/>
          </p:cNvSpPr>
          <p:nvPr>
            <p:ph type="dt" sz="half" idx="10"/>
          </p:nvPr>
        </p:nvSpPr>
        <p:spPr/>
        <p:txBody>
          <a:bodyPr/>
          <a:lstStyle/>
          <a:p>
            <a:fld id="{0FB0B71B-2C65-410B-A139-F2A17F820994}" type="datetimeFigureOut">
              <a:rPr lang="en-US" smtClean="0"/>
              <a:t>11/18/2025</a:t>
            </a:fld>
            <a:endParaRPr lang="en-US"/>
          </a:p>
        </p:txBody>
      </p:sp>
      <p:sp>
        <p:nvSpPr>
          <p:cNvPr id="6" name="Footer Placeholder 5">
            <a:extLst>
              <a:ext uri="{FF2B5EF4-FFF2-40B4-BE49-F238E27FC236}">
                <a16:creationId xmlns:a16="http://schemas.microsoft.com/office/drawing/2014/main" id="{989CA31D-4E22-B17E-D6BC-53C62F0FB4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3EA926-8539-65BD-DD56-7F88927BE25A}"/>
              </a:ext>
            </a:extLst>
          </p:cNvPr>
          <p:cNvSpPr>
            <a:spLocks noGrp="1"/>
          </p:cNvSpPr>
          <p:nvPr>
            <p:ph type="sldNum" sz="quarter" idx="12"/>
          </p:nvPr>
        </p:nvSpPr>
        <p:spPr/>
        <p:txBody>
          <a:bodyPr/>
          <a:lstStyle/>
          <a:p>
            <a:fld id="{6A2F85D8-6B18-4076-A2BA-E033E9041B64}" type="slidenum">
              <a:rPr lang="en-US" smtClean="0"/>
              <a:t>‹#›</a:t>
            </a:fld>
            <a:endParaRPr lang="en-US"/>
          </a:p>
        </p:txBody>
      </p:sp>
    </p:spTree>
    <p:extLst>
      <p:ext uri="{BB962C8B-B14F-4D97-AF65-F5344CB8AC3E}">
        <p14:creationId xmlns:p14="http://schemas.microsoft.com/office/powerpoint/2010/main" val="3511218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706FB-F35E-E461-5705-4645E7B5F3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14EA50B-2439-7B9E-C62B-6E45BDCA8F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9ACB1F-89BA-B230-A1D6-D78F0BB5A8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49D34FF-F4F1-7C21-B53C-C57D0571D1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F5F0DE-3070-6C22-C232-E0ECE607D9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523BF9-5720-59DF-360A-D2AA3BADEF4B}"/>
              </a:ext>
            </a:extLst>
          </p:cNvPr>
          <p:cNvSpPr>
            <a:spLocks noGrp="1"/>
          </p:cNvSpPr>
          <p:nvPr>
            <p:ph type="dt" sz="half" idx="10"/>
          </p:nvPr>
        </p:nvSpPr>
        <p:spPr/>
        <p:txBody>
          <a:bodyPr/>
          <a:lstStyle/>
          <a:p>
            <a:fld id="{0FB0B71B-2C65-410B-A139-F2A17F820994}" type="datetimeFigureOut">
              <a:rPr lang="en-US" smtClean="0"/>
              <a:t>11/18/2025</a:t>
            </a:fld>
            <a:endParaRPr lang="en-US"/>
          </a:p>
        </p:txBody>
      </p:sp>
      <p:sp>
        <p:nvSpPr>
          <p:cNvPr id="8" name="Footer Placeholder 7">
            <a:extLst>
              <a:ext uri="{FF2B5EF4-FFF2-40B4-BE49-F238E27FC236}">
                <a16:creationId xmlns:a16="http://schemas.microsoft.com/office/drawing/2014/main" id="{A719BB4E-1397-EE0E-3D2F-5B971CA1B8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934F98-A85C-8DD9-30AC-2C8342F4FD4E}"/>
              </a:ext>
            </a:extLst>
          </p:cNvPr>
          <p:cNvSpPr>
            <a:spLocks noGrp="1"/>
          </p:cNvSpPr>
          <p:nvPr>
            <p:ph type="sldNum" sz="quarter" idx="12"/>
          </p:nvPr>
        </p:nvSpPr>
        <p:spPr/>
        <p:txBody>
          <a:bodyPr/>
          <a:lstStyle/>
          <a:p>
            <a:fld id="{6A2F85D8-6B18-4076-A2BA-E033E9041B64}" type="slidenum">
              <a:rPr lang="en-US" smtClean="0"/>
              <a:t>‹#›</a:t>
            </a:fld>
            <a:endParaRPr lang="en-US"/>
          </a:p>
        </p:txBody>
      </p:sp>
    </p:spTree>
    <p:extLst>
      <p:ext uri="{BB962C8B-B14F-4D97-AF65-F5344CB8AC3E}">
        <p14:creationId xmlns:p14="http://schemas.microsoft.com/office/powerpoint/2010/main" val="5781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A1A2B-6E2F-4281-F597-28505B6893C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93FBE9-6E7D-D87A-4D8F-8E40DD7A9764}"/>
              </a:ext>
            </a:extLst>
          </p:cNvPr>
          <p:cNvSpPr>
            <a:spLocks noGrp="1"/>
          </p:cNvSpPr>
          <p:nvPr>
            <p:ph type="dt" sz="half" idx="10"/>
          </p:nvPr>
        </p:nvSpPr>
        <p:spPr/>
        <p:txBody>
          <a:bodyPr/>
          <a:lstStyle/>
          <a:p>
            <a:fld id="{0FB0B71B-2C65-410B-A139-F2A17F820994}" type="datetimeFigureOut">
              <a:rPr lang="en-US" smtClean="0"/>
              <a:t>11/18/2025</a:t>
            </a:fld>
            <a:endParaRPr lang="en-US"/>
          </a:p>
        </p:txBody>
      </p:sp>
      <p:sp>
        <p:nvSpPr>
          <p:cNvPr id="4" name="Footer Placeholder 3">
            <a:extLst>
              <a:ext uri="{FF2B5EF4-FFF2-40B4-BE49-F238E27FC236}">
                <a16:creationId xmlns:a16="http://schemas.microsoft.com/office/drawing/2014/main" id="{76B45EEF-2EB5-F01C-1935-47EF7E9281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B67B62-EEDA-DB6C-8289-F66798518BA1}"/>
              </a:ext>
            </a:extLst>
          </p:cNvPr>
          <p:cNvSpPr>
            <a:spLocks noGrp="1"/>
          </p:cNvSpPr>
          <p:nvPr>
            <p:ph type="sldNum" sz="quarter" idx="12"/>
          </p:nvPr>
        </p:nvSpPr>
        <p:spPr/>
        <p:txBody>
          <a:bodyPr/>
          <a:lstStyle/>
          <a:p>
            <a:fld id="{6A2F85D8-6B18-4076-A2BA-E033E9041B64}" type="slidenum">
              <a:rPr lang="en-US" smtClean="0"/>
              <a:t>‹#›</a:t>
            </a:fld>
            <a:endParaRPr lang="en-US"/>
          </a:p>
        </p:txBody>
      </p:sp>
    </p:spTree>
    <p:extLst>
      <p:ext uri="{BB962C8B-B14F-4D97-AF65-F5344CB8AC3E}">
        <p14:creationId xmlns:p14="http://schemas.microsoft.com/office/powerpoint/2010/main" val="1451166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DDE067-CDAB-5146-41D5-E563B454E61F}"/>
              </a:ext>
            </a:extLst>
          </p:cNvPr>
          <p:cNvSpPr>
            <a:spLocks noGrp="1"/>
          </p:cNvSpPr>
          <p:nvPr>
            <p:ph type="dt" sz="half" idx="10"/>
          </p:nvPr>
        </p:nvSpPr>
        <p:spPr/>
        <p:txBody>
          <a:bodyPr/>
          <a:lstStyle/>
          <a:p>
            <a:fld id="{0FB0B71B-2C65-410B-A139-F2A17F820994}" type="datetimeFigureOut">
              <a:rPr lang="en-US" smtClean="0"/>
              <a:t>11/18/2025</a:t>
            </a:fld>
            <a:endParaRPr lang="en-US"/>
          </a:p>
        </p:txBody>
      </p:sp>
      <p:sp>
        <p:nvSpPr>
          <p:cNvPr id="3" name="Footer Placeholder 2">
            <a:extLst>
              <a:ext uri="{FF2B5EF4-FFF2-40B4-BE49-F238E27FC236}">
                <a16:creationId xmlns:a16="http://schemas.microsoft.com/office/drawing/2014/main" id="{09FFE357-9D29-0049-C428-5488789B35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9003138-9A8C-53A6-3B4C-32988A0196DE}"/>
              </a:ext>
            </a:extLst>
          </p:cNvPr>
          <p:cNvSpPr>
            <a:spLocks noGrp="1"/>
          </p:cNvSpPr>
          <p:nvPr>
            <p:ph type="sldNum" sz="quarter" idx="12"/>
          </p:nvPr>
        </p:nvSpPr>
        <p:spPr/>
        <p:txBody>
          <a:bodyPr/>
          <a:lstStyle/>
          <a:p>
            <a:fld id="{6A2F85D8-6B18-4076-A2BA-E033E9041B64}" type="slidenum">
              <a:rPr lang="en-US" smtClean="0"/>
              <a:t>‹#›</a:t>
            </a:fld>
            <a:endParaRPr lang="en-US"/>
          </a:p>
        </p:txBody>
      </p:sp>
    </p:spTree>
    <p:extLst>
      <p:ext uri="{BB962C8B-B14F-4D97-AF65-F5344CB8AC3E}">
        <p14:creationId xmlns:p14="http://schemas.microsoft.com/office/powerpoint/2010/main" val="734351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00EEF-71A0-27EC-A54C-2DB70CCE0A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7D1E753-4595-DD93-3B22-47B3BCDC2F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190A0A-0074-3B71-0CFE-92CF8412D7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544BCF-4149-8BF8-BCB0-84BFD6C13D29}"/>
              </a:ext>
            </a:extLst>
          </p:cNvPr>
          <p:cNvSpPr>
            <a:spLocks noGrp="1"/>
          </p:cNvSpPr>
          <p:nvPr>
            <p:ph type="dt" sz="half" idx="10"/>
          </p:nvPr>
        </p:nvSpPr>
        <p:spPr/>
        <p:txBody>
          <a:bodyPr/>
          <a:lstStyle/>
          <a:p>
            <a:fld id="{0FB0B71B-2C65-410B-A139-F2A17F820994}" type="datetimeFigureOut">
              <a:rPr lang="en-US" smtClean="0"/>
              <a:t>11/18/2025</a:t>
            </a:fld>
            <a:endParaRPr lang="en-US"/>
          </a:p>
        </p:txBody>
      </p:sp>
      <p:sp>
        <p:nvSpPr>
          <p:cNvPr id="6" name="Footer Placeholder 5">
            <a:extLst>
              <a:ext uri="{FF2B5EF4-FFF2-40B4-BE49-F238E27FC236}">
                <a16:creationId xmlns:a16="http://schemas.microsoft.com/office/drawing/2014/main" id="{A417C9DF-2424-7534-4178-E1FA7A3008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93D4CF-0ED3-D7A9-B192-AF35D4C64710}"/>
              </a:ext>
            </a:extLst>
          </p:cNvPr>
          <p:cNvSpPr>
            <a:spLocks noGrp="1"/>
          </p:cNvSpPr>
          <p:nvPr>
            <p:ph type="sldNum" sz="quarter" idx="12"/>
          </p:nvPr>
        </p:nvSpPr>
        <p:spPr/>
        <p:txBody>
          <a:bodyPr/>
          <a:lstStyle/>
          <a:p>
            <a:fld id="{6A2F85D8-6B18-4076-A2BA-E033E9041B64}" type="slidenum">
              <a:rPr lang="en-US" smtClean="0"/>
              <a:t>‹#›</a:t>
            </a:fld>
            <a:endParaRPr lang="en-US"/>
          </a:p>
        </p:txBody>
      </p:sp>
    </p:spTree>
    <p:extLst>
      <p:ext uri="{BB962C8B-B14F-4D97-AF65-F5344CB8AC3E}">
        <p14:creationId xmlns:p14="http://schemas.microsoft.com/office/powerpoint/2010/main" val="1093171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0A21C-662A-7700-63E9-08B8E732E3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21ACE49-037D-B635-F013-65C20BCD1E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68DA50-EFD7-9CC5-6E90-3321B57107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EE2FA7-4A6F-2857-B8D3-D90194779D5F}"/>
              </a:ext>
            </a:extLst>
          </p:cNvPr>
          <p:cNvSpPr>
            <a:spLocks noGrp="1"/>
          </p:cNvSpPr>
          <p:nvPr>
            <p:ph type="dt" sz="half" idx="10"/>
          </p:nvPr>
        </p:nvSpPr>
        <p:spPr/>
        <p:txBody>
          <a:bodyPr/>
          <a:lstStyle/>
          <a:p>
            <a:fld id="{0FB0B71B-2C65-410B-A139-F2A17F820994}" type="datetimeFigureOut">
              <a:rPr lang="en-US" smtClean="0"/>
              <a:t>11/18/2025</a:t>
            </a:fld>
            <a:endParaRPr lang="en-US"/>
          </a:p>
        </p:txBody>
      </p:sp>
      <p:sp>
        <p:nvSpPr>
          <p:cNvPr id="6" name="Footer Placeholder 5">
            <a:extLst>
              <a:ext uri="{FF2B5EF4-FFF2-40B4-BE49-F238E27FC236}">
                <a16:creationId xmlns:a16="http://schemas.microsoft.com/office/drawing/2014/main" id="{AC845C55-3CBF-C775-0183-2224249F6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C24802-C92E-22EF-46BC-4A19B80DAF38}"/>
              </a:ext>
            </a:extLst>
          </p:cNvPr>
          <p:cNvSpPr>
            <a:spLocks noGrp="1"/>
          </p:cNvSpPr>
          <p:nvPr>
            <p:ph type="sldNum" sz="quarter" idx="12"/>
          </p:nvPr>
        </p:nvSpPr>
        <p:spPr/>
        <p:txBody>
          <a:bodyPr/>
          <a:lstStyle/>
          <a:p>
            <a:fld id="{6A2F85D8-6B18-4076-A2BA-E033E9041B64}" type="slidenum">
              <a:rPr lang="en-US" smtClean="0"/>
              <a:t>‹#›</a:t>
            </a:fld>
            <a:endParaRPr lang="en-US"/>
          </a:p>
        </p:txBody>
      </p:sp>
    </p:spTree>
    <p:extLst>
      <p:ext uri="{BB962C8B-B14F-4D97-AF65-F5344CB8AC3E}">
        <p14:creationId xmlns:p14="http://schemas.microsoft.com/office/powerpoint/2010/main" val="1527409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71930-F8CB-6CA1-63EE-4D72722877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D03C199-E403-A1BB-B1BF-591D97C49B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C91F1C-B362-700C-B6F3-0E7FB436C06F}"/>
              </a:ext>
            </a:extLst>
          </p:cNvPr>
          <p:cNvSpPr>
            <a:spLocks noGrp="1"/>
          </p:cNvSpPr>
          <p:nvPr>
            <p:ph type="dt" sz="half" idx="10"/>
          </p:nvPr>
        </p:nvSpPr>
        <p:spPr/>
        <p:txBody>
          <a:bodyPr/>
          <a:lstStyle/>
          <a:p>
            <a:fld id="{0FB0B71B-2C65-410B-A139-F2A17F820994}" type="datetimeFigureOut">
              <a:rPr lang="en-US" smtClean="0"/>
              <a:t>11/18/2025</a:t>
            </a:fld>
            <a:endParaRPr lang="en-US"/>
          </a:p>
        </p:txBody>
      </p:sp>
      <p:sp>
        <p:nvSpPr>
          <p:cNvPr id="5" name="Footer Placeholder 4">
            <a:extLst>
              <a:ext uri="{FF2B5EF4-FFF2-40B4-BE49-F238E27FC236}">
                <a16:creationId xmlns:a16="http://schemas.microsoft.com/office/drawing/2014/main" id="{07AE86C5-FFAD-B7A0-DDED-4A81A0A042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8F2274-F3BB-1035-2AE4-12029108E6B1}"/>
              </a:ext>
            </a:extLst>
          </p:cNvPr>
          <p:cNvSpPr>
            <a:spLocks noGrp="1"/>
          </p:cNvSpPr>
          <p:nvPr>
            <p:ph type="sldNum" sz="quarter" idx="12"/>
          </p:nvPr>
        </p:nvSpPr>
        <p:spPr/>
        <p:txBody>
          <a:bodyPr/>
          <a:lstStyle/>
          <a:p>
            <a:fld id="{6A2F85D8-6B18-4076-A2BA-E033E9041B64}" type="slidenum">
              <a:rPr lang="en-US" smtClean="0"/>
              <a:t>‹#›</a:t>
            </a:fld>
            <a:endParaRPr lang="en-US"/>
          </a:p>
        </p:txBody>
      </p:sp>
    </p:spTree>
    <p:extLst>
      <p:ext uri="{BB962C8B-B14F-4D97-AF65-F5344CB8AC3E}">
        <p14:creationId xmlns:p14="http://schemas.microsoft.com/office/powerpoint/2010/main" val="2272922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1D6975-E926-BA2E-57DE-E8D080DEE70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A73645-BCEA-599A-C14C-0CE41FB11B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88CBC4-6567-3832-B4FE-1AE8DB63A4EF}"/>
              </a:ext>
            </a:extLst>
          </p:cNvPr>
          <p:cNvSpPr>
            <a:spLocks noGrp="1"/>
          </p:cNvSpPr>
          <p:nvPr>
            <p:ph type="dt" sz="half" idx="10"/>
          </p:nvPr>
        </p:nvSpPr>
        <p:spPr/>
        <p:txBody>
          <a:bodyPr/>
          <a:lstStyle/>
          <a:p>
            <a:fld id="{0FB0B71B-2C65-410B-A139-F2A17F820994}" type="datetimeFigureOut">
              <a:rPr lang="en-US" smtClean="0"/>
              <a:t>11/18/2025</a:t>
            </a:fld>
            <a:endParaRPr lang="en-US"/>
          </a:p>
        </p:txBody>
      </p:sp>
      <p:sp>
        <p:nvSpPr>
          <p:cNvPr id="5" name="Footer Placeholder 4">
            <a:extLst>
              <a:ext uri="{FF2B5EF4-FFF2-40B4-BE49-F238E27FC236}">
                <a16:creationId xmlns:a16="http://schemas.microsoft.com/office/drawing/2014/main" id="{54FF5491-2108-53D0-8881-A76153BA22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708518-FDDD-813F-F73B-7DC9E0FBFD4A}"/>
              </a:ext>
            </a:extLst>
          </p:cNvPr>
          <p:cNvSpPr>
            <a:spLocks noGrp="1"/>
          </p:cNvSpPr>
          <p:nvPr>
            <p:ph type="sldNum" sz="quarter" idx="12"/>
          </p:nvPr>
        </p:nvSpPr>
        <p:spPr/>
        <p:txBody>
          <a:bodyPr/>
          <a:lstStyle/>
          <a:p>
            <a:fld id="{6A2F85D8-6B18-4076-A2BA-E033E9041B64}" type="slidenum">
              <a:rPr lang="en-US" smtClean="0"/>
              <a:t>‹#›</a:t>
            </a:fld>
            <a:endParaRPr lang="en-US"/>
          </a:p>
        </p:txBody>
      </p:sp>
    </p:spTree>
    <p:extLst>
      <p:ext uri="{BB962C8B-B14F-4D97-AF65-F5344CB8AC3E}">
        <p14:creationId xmlns:p14="http://schemas.microsoft.com/office/powerpoint/2010/main" val="1029291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5B2A28-F0A5-EF4A-E378-4824418ACC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C82FEB5-BDCE-5F6D-D2DB-AC983348A5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D77B02-B17E-810A-1B5C-9EF6EBEE8F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B0B71B-2C65-410B-A139-F2A17F820994}" type="datetimeFigureOut">
              <a:rPr lang="en-US" smtClean="0"/>
              <a:t>11/18/2025</a:t>
            </a:fld>
            <a:endParaRPr lang="en-US"/>
          </a:p>
        </p:txBody>
      </p:sp>
      <p:sp>
        <p:nvSpPr>
          <p:cNvPr id="5" name="Footer Placeholder 4">
            <a:extLst>
              <a:ext uri="{FF2B5EF4-FFF2-40B4-BE49-F238E27FC236}">
                <a16:creationId xmlns:a16="http://schemas.microsoft.com/office/drawing/2014/main" id="{927CBFCA-524B-3979-ACB4-4891E0267F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FE50701-E1B2-D896-E6CD-429C228D41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2F85D8-6B18-4076-A2BA-E033E9041B64}" type="slidenum">
              <a:rPr lang="en-US" smtClean="0"/>
              <a:t>‹#›</a:t>
            </a:fld>
            <a:endParaRPr lang="en-US"/>
          </a:p>
        </p:txBody>
      </p:sp>
    </p:spTree>
    <p:extLst>
      <p:ext uri="{BB962C8B-B14F-4D97-AF65-F5344CB8AC3E}">
        <p14:creationId xmlns:p14="http://schemas.microsoft.com/office/powerpoint/2010/main" val="791484936"/>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medhieval.com/classes/hh2019/labs/your-digital-identity/" TargetMode="External"/><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6A52CC0-6785-7D96-0D95-1898D71F5627}"/>
              </a:ext>
            </a:extLst>
          </p:cNvPr>
          <p:cNvSpPr>
            <a:spLocks noGrp="1"/>
          </p:cNvSpPr>
          <p:nvPr>
            <p:ph type="title"/>
          </p:nvPr>
        </p:nvSpPr>
        <p:spPr>
          <a:xfrm>
            <a:off x="836612" y="457200"/>
            <a:ext cx="3935413" cy="1600200"/>
          </a:xfrm>
        </p:spPr>
        <p:txBody>
          <a:bodyPr>
            <a:normAutofit/>
          </a:bodyPr>
          <a:lstStyle/>
          <a:p>
            <a:r>
              <a:rPr lang="en-US" sz="3600" b="1" dirty="0">
                <a:latin typeface="Times New Roman" panose="02020603050405020304" pitchFamily="18" charset="0"/>
                <a:cs typeface="Times New Roman" panose="02020603050405020304" pitchFamily="18" charset="0"/>
              </a:rPr>
              <a:t>How Real is your online personality?</a:t>
            </a:r>
          </a:p>
        </p:txBody>
      </p:sp>
      <p:pic>
        <p:nvPicPr>
          <p:cNvPr id="11" name="Content Placeholder 10">
            <a:extLst>
              <a:ext uri="{FF2B5EF4-FFF2-40B4-BE49-F238E27FC236}">
                <a16:creationId xmlns:a16="http://schemas.microsoft.com/office/drawing/2014/main" id="{2B720CC9-11BE-FF22-AACB-14A420B9C89E}"/>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347396" y="987425"/>
            <a:ext cx="5843784" cy="4873625"/>
          </a:xfrm>
          <a:ln>
            <a:solidFill>
              <a:schemeClr val="bg1">
                <a:lumMod val="75000"/>
              </a:schemeClr>
            </a:solidFill>
          </a:ln>
        </p:spPr>
      </p:pic>
      <p:sp>
        <p:nvSpPr>
          <p:cNvPr id="9" name="Text Placeholder 8">
            <a:extLst>
              <a:ext uri="{FF2B5EF4-FFF2-40B4-BE49-F238E27FC236}">
                <a16:creationId xmlns:a16="http://schemas.microsoft.com/office/drawing/2014/main" id="{91612AE0-F965-FA7A-7081-655A46228A93}"/>
              </a:ext>
            </a:extLst>
          </p:cNvPr>
          <p:cNvSpPr>
            <a:spLocks noGrp="1"/>
          </p:cNvSpPr>
          <p:nvPr>
            <p:ph type="body" sz="half" idx="2"/>
          </p:nvPr>
        </p:nvSpPr>
        <p:spPr>
          <a:ln>
            <a:solidFill>
              <a:schemeClr val="bg1">
                <a:lumMod val="75000"/>
              </a:schemeClr>
            </a:solidFill>
          </a:ln>
        </p:spPr>
        <p:txBody>
          <a:bodyPr>
            <a:normAutofit/>
          </a:bodyPr>
          <a:lstStyle/>
          <a:p>
            <a:r>
              <a:rPr lang="en-US" dirty="0"/>
              <a:t>“</a:t>
            </a:r>
            <a:r>
              <a:rPr lang="en-US" sz="2400" dirty="0"/>
              <a:t>An analytical survey exploring the difference between online and real-life personalities</a:t>
            </a:r>
            <a:r>
              <a:rPr lang="en-US" dirty="0"/>
              <a:t>.”</a:t>
            </a:r>
          </a:p>
          <a:p>
            <a:r>
              <a:rPr lang="en-US" sz="2400" dirty="0"/>
              <a:t>This research aims to analyze how digital behavior reflects — or reshapes — one’s true identity.</a:t>
            </a:r>
          </a:p>
        </p:txBody>
      </p:sp>
    </p:spTree>
    <p:extLst>
      <p:ext uri="{BB962C8B-B14F-4D97-AF65-F5344CB8AC3E}">
        <p14:creationId xmlns:p14="http://schemas.microsoft.com/office/powerpoint/2010/main" val="938909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DB17F-6AE1-E633-F674-A7B1D5F0B686}"/>
              </a:ext>
            </a:extLst>
          </p:cNvPr>
          <p:cNvSpPr>
            <a:spLocks noGrp="1"/>
          </p:cNvSpPr>
          <p:nvPr>
            <p:ph type="title"/>
          </p:nvPr>
        </p:nvSpPr>
        <p:spPr>
          <a:xfrm>
            <a:off x="838200" y="790766"/>
            <a:ext cx="10515600" cy="1325563"/>
          </a:xfrm>
        </p:spPr>
        <p:txBody>
          <a:bodyPr/>
          <a:lstStyle/>
          <a:p>
            <a:r>
              <a:rPr lang="en-US" dirty="0">
                <a:latin typeface="Times New Roman" panose="02020603050405020304" pitchFamily="18" charset="0"/>
                <a:cs typeface="Times New Roman" panose="02020603050405020304" pitchFamily="18" charset="0"/>
              </a:rPr>
              <a:t>A Brief Introduction</a:t>
            </a:r>
          </a:p>
        </p:txBody>
      </p:sp>
      <p:sp>
        <p:nvSpPr>
          <p:cNvPr id="3" name="Content Placeholder 2">
            <a:extLst>
              <a:ext uri="{FF2B5EF4-FFF2-40B4-BE49-F238E27FC236}">
                <a16:creationId xmlns:a16="http://schemas.microsoft.com/office/drawing/2014/main" id="{44B40AA3-18EA-CFB5-411D-F0B84E34FC95}"/>
              </a:ext>
            </a:extLst>
          </p:cNvPr>
          <p:cNvSpPr>
            <a:spLocks noGrp="1"/>
          </p:cNvSpPr>
          <p:nvPr>
            <p:ph idx="1"/>
          </p:nvPr>
        </p:nvSpPr>
        <p:spPr>
          <a:xfrm>
            <a:off x="838200" y="2478023"/>
            <a:ext cx="10515600" cy="3698939"/>
          </a:xfrm>
        </p:spPr>
        <p:txBody>
          <a:bodyPr/>
          <a:lstStyle/>
          <a:p>
            <a:r>
              <a:rPr lang="en-US" dirty="0"/>
              <a:t>In today’s digital era, social media has become a stage where people carefully shape how they are seen by others. This presentation explores the differences between individuals’ real-life personalities and the versions they present online. Through survey data and analysis, it aims to understand how authenticity, self-expression, and social pressure influence our digital identities. Ultimately, this study seeks to uncover how “real” our online selves truly are.</a:t>
            </a:r>
          </a:p>
        </p:txBody>
      </p:sp>
    </p:spTree>
    <p:extLst>
      <p:ext uri="{BB962C8B-B14F-4D97-AF65-F5344CB8AC3E}">
        <p14:creationId xmlns:p14="http://schemas.microsoft.com/office/powerpoint/2010/main" val="2617864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D140E-D814-2803-8C0C-1F57AAF3B66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Survey Methodology</a:t>
            </a:r>
          </a:p>
        </p:txBody>
      </p:sp>
      <p:sp>
        <p:nvSpPr>
          <p:cNvPr id="3" name="Content Placeholder 2">
            <a:extLst>
              <a:ext uri="{FF2B5EF4-FFF2-40B4-BE49-F238E27FC236}">
                <a16:creationId xmlns:a16="http://schemas.microsoft.com/office/drawing/2014/main" id="{84093879-643A-9536-0C03-930568C63F81}"/>
              </a:ext>
            </a:extLst>
          </p:cNvPr>
          <p:cNvSpPr>
            <a:spLocks noGrp="1"/>
          </p:cNvSpPr>
          <p:nvPr>
            <p:ph idx="1"/>
          </p:nvPr>
        </p:nvSpPr>
        <p:spPr>
          <a:xfrm>
            <a:off x="630936" y="1825625"/>
            <a:ext cx="10722864" cy="4351338"/>
          </a:xfrm>
        </p:spPr>
        <p:txBody>
          <a:bodyPr/>
          <a:lstStyle/>
          <a:p>
            <a:pPr>
              <a:buFont typeface="Wingdings" panose="05000000000000000000" pitchFamily="2" charset="2"/>
              <a:buChar char="Ø"/>
            </a:pPr>
            <a:r>
              <a:rPr lang="en-US" dirty="0"/>
              <a:t> This survey was conducted to gather insights from a diverse group of participants representing different age groups, professions, and backgrounds. Responses were collected through a Google Form distributed online, ensuring accessibility and convenience for all respondents. The questionnaire included a mix of multiple-choice and opinion-based questions designed to evaluate how individuals express their personalities in digital spaces. Both male and female participants contributed to the study, providing a balanced perspective on the authenticity of online behavior and self-representation.</a:t>
            </a:r>
          </a:p>
        </p:txBody>
      </p:sp>
    </p:spTree>
    <p:extLst>
      <p:ext uri="{BB962C8B-B14F-4D97-AF65-F5344CB8AC3E}">
        <p14:creationId xmlns:p14="http://schemas.microsoft.com/office/powerpoint/2010/main" val="2459406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4182F4-FC06-EBB1-4B9A-2B4A728F0C5E}"/>
              </a:ext>
            </a:extLst>
          </p:cNvPr>
          <p:cNvSpPr txBox="1"/>
          <p:nvPr/>
        </p:nvSpPr>
        <p:spPr>
          <a:xfrm>
            <a:off x="210312" y="356616"/>
            <a:ext cx="7699248"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 📉Survey Questions and Responses</a:t>
            </a:r>
          </a:p>
        </p:txBody>
      </p:sp>
      <p:graphicFrame>
        <p:nvGraphicFramePr>
          <p:cNvPr id="6" name="Table 5">
            <a:extLst>
              <a:ext uri="{FF2B5EF4-FFF2-40B4-BE49-F238E27FC236}">
                <a16:creationId xmlns:a16="http://schemas.microsoft.com/office/drawing/2014/main" id="{FB4D2C40-A15F-5556-8D75-32B5C4885B74}"/>
              </a:ext>
            </a:extLst>
          </p:cNvPr>
          <p:cNvGraphicFramePr>
            <a:graphicFrameLocks noGrp="1"/>
          </p:cNvGraphicFramePr>
          <p:nvPr>
            <p:extLst>
              <p:ext uri="{D42A27DB-BD31-4B8C-83A1-F6EECF244321}">
                <p14:modId xmlns:p14="http://schemas.microsoft.com/office/powerpoint/2010/main" val="322710272"/>
              </p:ext>
            </p:extLst>
          </p:nvPr>
        </p:nvGraphicFramePr>
        <p:xfrm>
          <a:off x="1168400" y="1788160"/>
          <a:ext cx="9723120" cy="4377265"/>
        </p:xfrm>
        <a:graphic>
          <a:graphicData uri="http://schemas.openxmlformats.org/drawingml/2006/table">
            <a:tbl>
              <a:tblPr firstRow="1" bandRow="1">
                <a:tableStyleId>{F5AB1C69-6EDB-4FF4-983F-18BD219EF322}</a:tableStyleId>
              </a:tblPr>
              <a:tblGrid>
                <a:gridCol w="4861560">
                  <a:extLst>
                    <a:ext uri="{9D8B030D-6E8A-4147-A177-3AD203B41FA5}">
                      <a16:colId xmlns:a16="http://schemas.microsoft.com/office/drawing/2014/main" val="235004508"/>
                    </a:ext>
                  </a:extLst>
                </a:gridCol>
                <a:gridCol w="4861560">
                  <a:extLst>
                    <a:ext uri="{9D8B030D-6E8A-4147-A177-3AD203B41FA5}">
                      <a16:colId xmlns:a16="http://schemas.microsoft.com/office/drawing/2014/main" val="2174308150"/>
                    </a:ext>
                  </a:extLst>
                </a:gridCol>
              </a:tblGrid>
              <a:tr h="692573">
                <a:tc>
                  <a:txBody>
                    <a:bodyPr/>
                    <a:lstStyle/>
                    <a:p>
                      <a:pPr algn="ctr"/>
                      <a:r>
                        <a:rPr lang="en-US" sz="2400" dirty="0"/>
                        <a:t>Questions</a:t>
                      </a:r>
                    </a:p>
                  </a:txBody>
                  <a:tcPr/>
                </a:tc>
                <a:tc>
                  <a:txBody>
                    <a:bodyPr/>
                    <a:lstStyle/>
                    <a:p>
                      <a:pPr algn="ctr"/>
                      <a:r>
                        <a:rPr lang="en-US" sz="2400" dirty="0"/>
                        <a:t>Responses</a:t>
                      </a:r>
                    </a:p>
                  </a:txBody>
                  <a:tcPr/>
                </a:tc>
                <a:extLst>
                  <a:ext uri="{0D108BD9-81ED-4DB2-BD59-A6C34878D82A}">
                    <a16:rowId xmlns:a16="http://schemas.microsoft.com/office/drawing/2014/main" val="3494905823"/>
                  </a:ext>
                </a:extLst>
              </a:tr>
              <a:tr h="692573">
                <a:tc>
                  <a:txBody>
                    <a:bodyPr/>
                    <a:lstStyle/>
                    <a:p>
                      <a:pPr marL="342900" indent="-342900">
                        <a:buFont typeface="+mj-lt"/>
                        <a:buAutoNum type="arabicPeriod"/>
                      </a:pPr>
                      <a:r>
                        <a:rPr lang="en-US" dirty="0"/>
                        <a:t>How often do you post content online?</a:t>
                      </a:r>
                    </a:p>
                  </a:txBody>
                  <a:tcPr/>
                </a:tc>
                <a:tc>
                  <a:txBody>
                    <a:bodyPr/>
                    <a:lstStyle/>
                    <a:p>
                      <a:r>
                        <a:rPr lang="en-US" dirty="0"/>
                        <a:t>About half of the respondents (52%) post content sometimes.</a:t>
                      </a:r>
                    </a:p>
                  </a:txBody>
                  <a:tcPr/>
                </a:tc>
                <a:extLst>
                  <a:ext uri="{0D108BD9-81ED-4DB2-BD59-A6C34878D82A}">
                    <a16:rowId xmlns:a16="http://schemas.microsoft.com/office/drawing/2014/main" val="2377109288"/>
                  </a:ext>
                </a:extLst>
              </a:tr>
              <a:tr h="692573">
                <a:tc>
                  <a:txBody>
                    <a:bodyPr/>
                    <a:lstStyle/>
                    <a:p>
                      <a:pPr marL="0" indent="0">
                        <a:buFont typeface="+mj-lt"/>
                        <a:buNone/>
                      </a:pPr>
                      <a:r>
                        <a:rPr lang="en-US" dirty="0"/>
                        <a:t>2.   When posting online, how often do you edit or  filter your content? </a:t>
                      </a:r>
                    </a:p>
                  </a:txBody>
                  <a:tcPr/>
                </a:tc>
                <a:tc>
                  <a:txBody>
                    <a:bodyPr/>
                    <a:lstStyle/>
                    <a:p>
                      <a:r>
                        <a:rPr lang="en-US" dirty="0"/>
                        <a:t>The majority of respondents (around 80%) edit or filter their content before posting.</a:t>
                      </a:r>
                    </a:p>
                  </a:txBody>
                  <a:tcPr/>
                </a:tc>
                <a:extLst>
                  <a:ext uri="{0D108BD9-81ED-4DB2-BD59-A6C34878D82A}">
                    <a16:rowId xmlns:a16="http://schemas.microsoft.com/office/drawing/2014/main" val="4102039226"/>
                  </a:ext>
                </a:extLst>
              </a:tr>
              <a:tr h="692573">
                <a:tc>
                  <a:txBody>
                    <a:bodyPr/>
                    <a:lstStyle/>
                    <a:p>
                      <a:r>
                        <a:rPr lang="en-US" dirty="0"/>
                        <a:t>3. How similar is your online personality to your real- life personality?</a:t>
                      </a:r>
                    </a:p>
                  </a:txBody>
                  <a:tcPr/>
                </a:tc>
                <a:tc>
                  <a:txBody>
                    <a:bodyPr/>
                    <a:lstStyle/>
                    <a:p>
                      <a:r>
                        <a:rPr lang="en-US" dirty="0"/>
                        <a:t>About equal portions of respondents (43%) said their online personality is similar or somewhat similar to their real- life.</a:t>
                      </a:r>
                    </a:p>
                  </a:txBody>
                  <a:tcPr/>
                </a:tc>
                <a:extLst>
                  <a:ext uri="{0D108BD9-81ED-4DB2-BD59-A6C34878D82A}">
                    <a16:rowId xmlns:a16="http://schemas.microsoft.com/office/drawing/2014/main" val="1775793743"/>
                  </a:ext>
                </a:extLst>
              </a:tr>
              <a:tr h="692573">
                <a:tc>
                  <a:txBody>
                    <a:bodyPr/>
                    <a:lstStyle/>
                    <a:p>
                      <a:r>
                        <a:rPr lang="en-US" dirty="0"/>
                        <a:t>4. Do you feel more confident online than in real life?</a:t>
                      </a:r>
                    </a:p>
                  </a:txBody>
                  <a:tcPr/>
                </a:tc>
                <a:tc>
                  <a:txBody>
                    <a:bodyPr/>
                    <a:lstStyle/>
                    <a:p>
                      <a:r>
                        <a:rPr lang="en-US" dirty="0"/>
                        <a:t> The majority of people replied that they feel more confident online than in real life.</a:t>
                      </a:r>
                    </a:p>
                  </a:txBody>
                  <a:tcPr/>
                </a:tc>
                <a:extLst>
                  <a:ext uri="{0D108BD9-81ED-4DB2-BD59-A6C34878D82A}">
                    <a16:rowId xmlns:a16="http://schemas.microsoft.com/office/drawing/2014/main" val="1911637861"/>
                  </a:ext>
                </a:extLst>
              </a:tr>
              <a:tr h="692573">
                <a:tc>
                  <a:txBody>
                    <a:bodyPr/>
                    <a:lstStyle/>
                    <a:p>
                      <a:r>
                        <a:rPr lang="en-US" dirty="0"/>
                        <a:t>5. Do you think people judge others based on their online personality?</a:t>
                      </a:r>
                    </a:p>
                  </a:txBody>
                  <a:tcPr/>
                </a:tc>
                <a:tc>
                  <a:txBody>
                    <a:bodyPr/>
                    <a:lstStyle/>
                    <a:p>
                      <a:r>
                        <a:rPr lang="en-US" dirty="0"/>
                        <a:t>Almost half people(45.5%) think people judge others, while others were unsure about it.</a:t>
                      </a:r>
                    </a:p>
                  </a:txBody>
                  <a:tcPr/>
                </a:tc>
                <a:extLst>
                  <a:ext uri="{0D108BD9-81ED-4DB2-BD59-A6C34878D82A}">
                    <a16:rowId xmlns:a16="http://schemas.microsoft.com/office/drawing/2014/main" val="2553251772"/>
                  </a:ext>
                </a:extLst>
              </a:tr>
            </a:tbl>
          </a:graphicData>
        </a:graphic>
      </p:graphicFrame>
    </p:spTree>
    <p:extLst>
      <p:ext uri="{BB962C8B-B14F-4D97-AF65-F5344CB8AC3E}">
        <p14:creationId xmlns:p14="http://schemas.microsoft.com/office/powerpoint/2010/main" val="71353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5AB4DA-FAE3-8CC3-3D3B-186DA77466F0}"/>
              </a:ext>
            </a:extLst>
          </p:cNvPr>
          <p:cNvSpPr txBox="1"/>
          <p:nvPr/>
        </p:nvSpPr>
        <p:spPr>
          <a:xfrm>
            <a:off x="783336" y="242599"/>
            <a:ext cx="7630160"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 Graphic Representation</a:t>
            </a:r>
          </a:p>
        </p:txBody>
      </p:sp>
      <p:pic>
        <p:nvPicPr>
          <p:cNvPr id="1028" name="Picture 4" descr="Forms response chart. Question title: When posting online, how often do you edit or filter your content?. Number of responses: 191 responses.">
            <a:extLst>
              <a:ext uri="{FF2B5EF4-FFF2-40B4-BE49-F238E27FC236}">
                <a16:creationId xmlns:a16="http://schemas.microsoft.com/office/drawing/2014/main" id="{BC832C72-977D-9F25-E435-03084F8B40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336" y="1003935"/>
            <a:ext cx="4840224" cy="21050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Forms response chart. Question title: How similar is your online Personality to your real-life Personality?. Number of responses: 189 responses.">
            <a:extLst>
              <a:ext uri="{FF2B5EF4-FFF2-40B4-BE49-F238E27FC236}">
                <a16:creationId xmlns:a16="http://schemas.microsoft.com/office/drawing/2014/main" id="{DBF78388-665C-E2B7-58A3-2283DD9204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2768" y="1003935"/>
            <a:ext cx="4840224" cy="210502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orms response chart. Question title: On the scale of 1-5, how real do you think your online personality is?. Number of responses: 191 responses.">
            <a:extLst>
              <a:ext uri="{FF2B5EF4-FFF2-40B4-BE49-F238E27FC236}">
                <a16:creationId xmlns:a16="http://schemas.microsoft.com/office/drawing/2014/main" id="{AAF36923-5BE5-82AE-0A00-9BF6FD20A6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108960"/>
            <a:ext cx="5230368" cy="321405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Forms response chart. Question title: Which platform do you use the most?. Number of responses: 191 responses.">
            <a:extLst>
              <a:ext uri="{FF2B5EF4-FFF2-40B4-BE49-F238E27FC236}">
                <a16:creationId xmlns:a16="http://schemas.microsoft.com/office/drawing/2014/main" id="{EC488B09-74F4-774E-A5BC-ED645B3603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23560" y="3239801"/>
            <a:ext cx="5358384" cy="3396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1642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9EE17-E9D5-5C4A-AFBA-FBC1B19776B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📜Analysis / Interpretation</a:t>
            </a:r>
          </a:p>
        </p:txBody>
      </p:sp>
      <p:sp>
        <p:nvSpPr>
          <p:cNvPr id="4" name="Content Placeholder 3">
            <a:extLst>
              <a:ext uri="{FF2B5EF4-FFF2-40B4-BE49-F238E27FC236}">
                <a16:creationId xmlns:a16="http://schemas.microsoft.com/office/drawing/2014/main" id="{102A5AC9-5A36-6C23-5A90-96005BBB5420}"/>
              </a:ext>
            </a:extLst>
          </p:cNvPr>
          <p:cNvSpPr txBox="1">
            <a:spLocks noGrp="1"/>
          </p:cNvSpPr>
          <p:nvPr>
            <p:ph idx="1"/>
          </p:nvPr>
        </p:nvSpPr>
        <p:spPr>
          <a:prstGeom prst="rect">
            <a:avLst/>
          </a:prstGeom>
          <a:noFill/>
        </p:spPr>
        <p:txBody>
          <a:bodyPr wrap="square">
            <a:spAutoFit/>
          </a:bodyPr>
          <a:lstStyle/>
          <a:p>
            <a:r>
              <a:rPr lang="en-US" dirty="0"/>
              <a:t>The survey results show that most people don’t present their full, real selves online. Many participants admitted that they sometimes edit their posts or act differently to appear more confident or likable. This suggests that social media often becomes a space where people show their “best version” instead of their real personality.</a:t>
            </a:r>
            <a:br>
              <a:rPr lang="en-US" dirty="0"/>
            </a:br>
            <a:r>
              <a:rPr lang="en-US" dirty="0"/>
              <a:t>At the same time, some participants said that being online gives them freedom to express thoughts they can’t share in person. So, while the internet can create fake impressions, it can also help people show hidden sides of who they are.</a:t>
            </a:r>
          </a:p>
        </p:txBody>
      </p:sp>
    </p:spTree>
    <p:extLst>
      <p:ext uri="{BB962C8B-B14F-4D97-AF65-F5344CB8AC3E}">
        <p14:creationId xmlns:p14="http://schemas.microsoft.com/office/powerpoint/2010/main" val="684922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AB332-7CFD-CA5C-70EE-7F3680CF0277}"/>
              </a:ext>
            </a:extLst>
          </p:cNvPr>
          <p:cNvSpPr>
            <a:spLocks noGrp="1"/>
          </p:cNvSpPr>
          <p:nvPr>
            <p:ph type="title"/>
          </p:nvPr>
        </p:nvSpPr>
        <p:spPr>
          <a:xfrm>
            <a:off x="1021080" y="703453"/>
            <a:ext cx="10515600" cy="1325563"/>
          </a:xfrm>
        </p:spPr>
        <p:txBody>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AA20D9DC-D44A-214E-1E0F-D6B2EE95C045}"/>
              </a:ext>
            </a:extLst>
          </p:cNvPr>
          <p:cNvSpPr>
            <a:spLocks noGrp="1"/>
          </p:cNvSpPr>
          <p:nvPr>
            <p:ph idx="1"/>
          </p:nvPr>
        </p:nvSpPr>
        <p:spPr>
          <a:xfrm>
            <a:off x="838200" y="2414015"/>
            <a:ext cx="10515600" cy="2203705"/>
          </a:xfrm>
        </p:spPr>
        <p:txBody>
          <a:bodyPr/>
          <a:lstStyle/>
          <a:p>
            <a:r>
              <a:rPr lang="en-US" dirty="0"/>
              <a:t>The survey shows that people often present a slightly different version of themselves online. While some try to appear more confident or positive, others use the internet to express parts of their true personality that they hide in real life. In the end, our online personality is real — but only a part of the whole picture.</a:t>
            </a:r>
          </a:p>
        </p:txBody>
      </p:sp>
    </p:spTree>
    <p:extLst>
      <p:ext uri="{BB962C8B-B14F-4D97-AF65-F5344CB8AC3E}">
        <p14:creationId xmlns:p14="http://schemas.microsoft.com/office/powerpoint/2010/main" val="11829998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146</TotalTime>
  <Words>543</Words>
  <Application>Microsoft Office PowerPoint</Application>
  <PresentationFormat>Widescreen</PresentationFormat>
  <Paragraphs>25</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Times New Roman</vt:lpstr>
      <vt:lpstr>Wingdings</vt:lpstr>
      <vt:lpstr>Office Theme</vt:lpstr>
      <vt:lpstr>How Real is your online personality?</vt:lpstr>
      <vt:lpstr>A Brief Introduction</vt:lpstr>
      <vt:lpstr>Survey Methodology</vt:lpstr>
      <vt:lpstr>PowerPoint Presentation</vt:lpstr>
      <vt:lpstr>PowerPoint Presentation</vt:lpstr>
      <vt:lpstr> 📜Analysis / Interpretation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Administrator</dc:creator>
  <cp:lastModifiedBy>Administrator</cp:lastModifiedBy>
  <cp:revision>3</cp:revision>
  <dcterms:created xsi:type="dcterms:W3CDTF">2025-11-06T12:24:03Z</dcterms:created>
  <dcterms:modified xsi:type="dcterms:W3CDTF">2025-11-18T18:11:25Z</dcterms:modified>
</cp:coreProperties>
</file>