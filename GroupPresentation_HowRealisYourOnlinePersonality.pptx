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3.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4.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72" r:id="rId1"/>
  </p:sldMasterIdLst>
  <p:notesMasterIdLst>
    <p:notesMasterId r:id="rId15"/>
  </p:notesMasterIdLst>
  <p:sldIdLst>
    <p:sldId id="256" r:id="rId2"/>
    <p:sldId id="257" r:id="rId3"/>
    <p:sldId id="258" r:id="rId4"/>
    <p:sldId id="268" r:id="rId5"/>
    <p:sldId id="261" r:id="rId6"/>
    <p:sldId id="262" r:id="rId7"/>
    <p:sldId id="264" r:id="rId8"/>
    <p:sldId id="267" r:id="rId9"/>
    <p:sldId id="263" r:id="rId10"/>
    <p:sldId id="265" r:id="rId11"/>
    <p:sldId id="270" r:id="rId12"/>
    <p:sldId id="269"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SD" initials="F" lastIdx="1" clrIdx="0">
    <p:extLst>
      <p:ext uri="{19B8F6BF-5375-455C-9EA6-DF929625EA0E}">
        <p15:presenceInfo xmlns:p15="http://schemas.microsoft.com/office/powerpoint/2012/main" userId="FS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EA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515" autoAdjust="0"/>
  </p:normalViewPr>
  <p:slideViewPr>
    <p:cSldViewPr snapToGrid="0">
      <p:cViewPr varScale="1">
        <p:scale>
          <a:sx n="62" d="100"/>
          <a:sy n="62"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[responses.xlsx]Sheet1!PivotTable4</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800" b="1" dirty="0">
                <a:solidFill>
                  <a:schemeClr val="tx1"/>
                </a:solidFill>
                <a:latin typeface="Times New Roman" panose="02020603050405020304" pitchFamily="18" charset="0"/>
                <a:cs typeface="Times New Roman" panose="02020603050405020304" pitchFamily="18" charset="0"/>
              </a:rPr>
              <a:t>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5"/>
          </a:solidFill>
          <a:ln w="19050">
            <a:solidFill>
              <a:schemeClr val="lt1"/>
            </a:solidFill>
          </a:ln>
          <a:effectLst/>
        </c:spPr>
      </c:pivotFmt>
      <c:pivotFmt>
        <c:idx val="3"/>
        <c:spPr>
          <a:solidFill>
            <a:schemeClr val="accent5"/>
          </a:solidFill>
          <a:ln w="19050">
            <a:solidFill>
              <a:schemeClr val="lt1"/>
            </a:solidFill>
          </a:ln>
          <a:effectLst/>
        </c:spPr>
      </c:pivotFmt>
      <c:pivotFmt>
        <c:idx val="4"/>
        <c:spPr>
          <a:solidFill>
            <a:schemeClr val="accent5"/>
          </a:solidFill>
          <a:ln w="19050">
            <a:solidFill>
              <a:schemeClr val="lt1"/>
            </a:solidFill>
          </a:ln>
          <a:effectLst/>
        </c:spPr>
      </c:pivotFmt>
      <c:pivotFmt>
        <c:idx val="5"/>
        <c:spPr>
          <a:solidFill>
            <a:schemeClr val="accent5"/>
          </a:solidFill>
          <a:ln w="19050">
            <a:solidFill>
              <a:schemeClr val="lt1"/>
            </a:solidFill>
          </a:ln>
          <a:effectLst/>
        </c:spPr>
      </c:pivotFmt>
      <c:pivotFmt>
        <c:idx val="6"/>
        <c:spPr>
          <a:solidFill>
            <a:schemeClr val="accent5"/>
          </a:solidFill>
          <a:ln w="19050">
            <a:solidFill>
              <a:schemeClr val="lt1"/>
            </a:solidFill>
          </a:ln>
          <a:effectLst/>
        </c:spPr>
      </c:pivotFmt>
      <c:pivotFmt>
        <c:idx val="7"/>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5"/>
          </a:solidFill>
          <a:ln w="19050">
            <a:solidFill>
              <a:schemeClr val="lt1"/>
            </a:solidFill>
          </a:ln>
          <a:effectLst/>
        </c:spPr>
      </c:pivotFmt>
      <c:pivotFmt>
        <c:idx val="9"/>
        <c:spPr>
          <a:solidFill>
            <a:schemeClr val="accent5"/>
          </a:solidFill>
          <a:ln w="19050">
            <a:solidFill>
              <a:schemeClr val="lt1"/>
            </a:solidFill>
          </a:ln>
          <a:effectLst/>
        </c:spPr>
      </c:pivotFmt>
      <c:pivotFmt>
        <c:idx val="10"/>
        <c:spPr>
          <a:solidFill>
            <a:schemeClr val="accent5"/>
          </a:solidFill>
          <a:ln w="19050">
            <a:solidFill>
              <a:schemeClr val="lt1"/>
            </a:solidFill>
          </a:ln>
          <a:effectLst/>
        </c:spPr>
      </c:pivotFmt>
      <c:pivotFmt>
        <c:idx val="11"/>
        <c:spPr>
          <a:solidFill>
            <a:schemeClr val="accent5"/>
          </a:solidFill>
          <a:ln w="19050">
            <a:solidFill>
              <a:schemeClr val="lt1"/>
            </a:solidFill>
          </a:ln>
          <a:effectLst/>
        </c:spPr>
      </c:pivotFmt>
      <c:pivotFmt>
        <c:idx val="12"/>
        <c:spPr>
          <a:solidFill>
            <a:schemeClr val="accent5"/>
          </a:solidFill>
          <a:ln w="19050">
            <a:solidFill>
              <a:schemeClr val="lt1"/>
            </a:solidFill>
          </a:ln>
          <a:effectLst/>
        </c:spPr>
      </c:pivotFmt>
    </c:pivotFmts>
    <c:plotArea>
      <c:layout/>
      <c:pieChart>
        <c:varyColors val="1"/>
        <c:ser>
          <c:idx val="0"/>
          <c:order val="0"/>
          <c:tx>
            <c:strRef>
              <c:f>Sheet1!$B$3</c:f>
              <c:strCache>
                <c:ptCount val="1"/>
                <c:pt idx="0">
                  <c:v>Total</c:v>
                </c:pt>
              </c:strCache>
            </c:strRef>
          </c:tx>
          <c:dPt>
            <c:idx val="0"/>
            <c:bubble3D val="0"/>
            <c:spPr>
              <a:solidFill>
                <a:schemeClr val="accent5">
                  <a:shade val="53000"/>
                </a:schemeClr>
              </a:solidFill>
              <a:ln w="19050">
                <a:solidFill>
                  <a:schemeClr val="lt1"/>
                </a:solidFill>
              </a:ln>
              <a:effectLst/>
            </c:spPr>
            <c:extLst>
              <c:ext xmlns:c16="http://schemas.microsoft.com/office/drawing/2014/chart" uri="{C3380CC4-5D6E-409C-BE32-E72D297353CC}">
                <c16:uniqueId val="{00000001-B679-4287-B6D4-F33BA84D3A14}"/>
              </c:ext>
            </c:extLst>
          </c:dPt>
          <c:dPt>
            <c:idx val="1"/>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3-B679-4287-B6D4-F33BA84D3A14}"/>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5-B679-4287-B6D4-F33BA84D3A14}"/>
              </c:ext>
            </c:extLst>
          </c:dPt>
          <c:dPt>
            <c:idx val="3"/>
            <c:bubble3D val="0"/>
            <c:spPr>
              <a:solidFill>
                <a:schemeClr val="accent5">
                  <a:tint val="77000"/>
                </a:schemeClr>
              </a:solidFill>
              <a:ln w="19050">
                <a:solidFill>
                  <a:schemeClr val="lt1"/>
                </a:solidFill>
              </a:ln>
              <a:effectLst/>
            </c:spPr>
            <c:extLst>
              <c:ext xmlns:c16="http://schemas.microsoft.com/office/drawing/2014/chart" uri="{C3380CC4-5D6E-409C-BE32-E72D297353CC}">
                <c16:uniqueId val="{00000007-B679-4287-B6D4-F33BA84D3A14}"/>
              </c:ext>
            </c:extLst>
          </c:dPt>
          <c:dPt>
            <c:idx val="4"/>
            <c:bubble3D val="0"/>
            <c:spPr>
              <a:solidFill>
                <a:schemeClr val="accent5">
                  <a:tint val="54000"/>
                </a:schemeClr>
              </a:solidFill>
              <a:ln w="19050">
                <a:solidFill>
                  <a:schemeClr val="lt1"/>
                </a:solidFill>
              </a:ln>
              <a:effectLst/>
            </c:spPr>
            <c:extLst>
              <c:ext xmlns:c16="http://schemas.microsoft.com/office/drawing/2014/chart" uri="{C3380CC4-5D6E-409C-BE32-E72D297353CC}">
                <c16:uniqueId val="{00000009-B679-4287-B6D4-F33BA84D3A14}"/>
              </c:ext>
            </c:extLst>
          </c:dPt>
          <c:dLbls>
            <c:dLbl>
              <c:idx val="0"/>
              <c:layout>
                <c:manualLayout>
                  <c:x val="4.7466355653573468E-2"/>
                  <c:y val="4.6295739019261315E-3"/>
                </c:manualLayout>
              </c:layout>
              <c:tx>
                <c:rich>
                  <a:bodyPr/>
                  <a:lstStyle/>
                  <a:p>
                    <a:fld id="{0D29E76C-CC04-4EFF-B21B-2D9ED21AECD3}" type="CATEGORYNAME">
                      <a:rPr lang="en-US" sz="1600"/>
                      <a:pPr/>
                      <a:t>[CATEGORY NAME]</a:t>
                    </a:fld>
                    <a:r>
                      <a:rPr lang="en-US" sz="1600" baseline="0" dirty="0"/>
                      <a:t>
</a:t>
                    </a:r>
                    <a:fld id="{72E3CECA-AFDD-426B-A073-74853878697D}" type="PERCENTAGE">
                      <a:rPr lang="en-US" sz="1600" baseline="0"/>
                      <a:pPr/>
                      <a:t>[PERCENTAGE]</a:t>
                    </a:fld>
                    <a:endParaRPr lang="en-US" sz="1600"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679-4287-B6D4-F33BA84D3A14}"/>
                </c:ext>
              </c:extLst>
            </c:dLbl>
            <c:dLbl>
              <c:idx val="1"/>
              <c:layout>
                <c:manualLayout>
                  <c:x val="-2.7899987082881394E-2"/>
                  <c:y val="0.10652433608547131"/>
                </c:manualLayout>
              </c:layout>
              <c:tx>
                <c:rich>
                  <a:bodyPr/>
                  <a:lstStyle/>
                  <a:p>
                    <a:fld id="{5DD3BF90-C339-456D-9739-EA12E9C787AE}" type="CATEGORYNAME">
                      <a:rPr lang="en-US" sz="1600"/>
                      <a:pPr/>
                      <a:t>[CATEGORY NAME]</a:t>
                    </a:fld>
                    <a:r>
                      <a:rPr lang="en-US" sz="1600" baseline="0" dirty="0"/>
                      <a:t>
</a:t>
                    </a:r>
                    <a:fld id="{D331248E-C93A-45C6-A5D5-6E330A26F18B}" type="PERCENTAGE">
                      <a:rPr lang="en-US" sz="1600" baseline="0"/>
                      <a:pPr/>
                      <a:t>[PERCENTAGE]</a:t>
                    </a:fld>
                    <a:endParaRPr lang="en-US" sz="1600"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679-4287-B6D4-F33BA84D3A14}"/>
                </c:ext>
              </c:extLst>
            </c:dLbl>
            <c:dLbl>
              <c:idx val="2"/>
              <c:layout>
                <c:manualLayout>
                  <c:x val="-0.12058614837832796"/>
                  <c:y val="4.6324920071274716E-3"/>
                </c:manualLayout>
              </c:layout>
              <c:tx>
                <c:rich>
                  <a:bodyPr/>
                  <a:lstStyle/>
                  <a:p>
                    <a:fld id="{E1DF4D93-D9FC-4753-B6D5-307353C367D3}" type="CATEGORYNAME">
                      <a:rPr lang="en-US" sz="1600" smtClean="0"/>
                      <a:pPr/>
                      <a:t>[CATEGORY NAME]</a:t>
                    </a:fld>
                    <a:r>
                      <a:rPr lang="en-US" sz="1600" baseline="0" dirty="0"/>
                      <a:t>
</a:t>
                    </a:r>
                    <a:fld id="{9571983E-A207-4BA7-88A4-47329B098818}" type="PERCENTAGE">
                      <a:rPr lang="en-US" sz="1600" baseline="0"/>
                      <a:pPr/>
                      <a:t>[PERCENTAGE]</a:t>
                    </a:fld>
                    <a:endParaRPr lang="en-US" sz="1600"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B679-4287-B6D4-F33BA84D3A14}"/>
                </c:ext>
              </c:extLst>
            </c:dLbl>
            <c:dLbl>
              <c:idx val="3"/>
              <c:layout>
                <c:manualLayout>
                  <c:x val="-1.1111111111111136E-2"/>
                  <c:y val="-1.3888888888888888E-2"/>
                </c:manualLayout>
              </c:layout>
              <c:tx>
                <c:rich>
                  <a:bodyPr/>
                  <a:lstStyle/>
                  <a:p>
                    <a:fld id="{3AF244E9-E1AD-4388-981B-7FF65BCD8FE2}" type="CATEGORYNAME">
                      <a:rPr lang="en-US" sz="1600" smtClean="0"/>
                      <a:pPr/>
                      <a:t>[CATEGORY NAME]</a:t>
                    </a:fld>
                    <a:r>
                      <a:rPr lang="en-US" sz="1600" baseline="0" dirty="0"/>
                      <a:t>
</a:t>
                    </a:r>
                    <a:fld id="{6778BA2A-5C01-4B07-B2CE-93397886CC3F}" type="PERCENTAGE">
                      <a:rPr lang="en-US" sz="1600" baseline="0"/>
                      <a:pPr/>
                      <a:t>[PERCENTAGE]</a:t>
                    </a:fld>
                    <a:endParaRPr lang="en-US" sz="1600"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B679-4287-B6D4-F33BA84D3A1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Sheet1!$A$4:$A$9</c:f>
              <c:strCache>
                <c:ptCount val="5"/>
                <c:pt idx="0">
                  <c:v>18-25</c:v>
                </c:pt>
                <c:pt idx="1">
                  <c:v>26-35</c:v>
                </c:pt>
                <c:pt idx="2">
                  <c:v>35+</c:v>
                </c:pt>
                <c:pt idx="3">
                  <c:v>Under 18</c:v>
                </c:pt>
                <c:pt idx="4">
                  <c:v>(blank)</c:v>
                </c:pt>
              </c:strCache>
            </c:strRef>
          </c:cat>
          <c:val>
            <c:numRef>
              <c:f>Sheet1!$B$4:$B$9</c:f>
              <c:numCache>
                <c:formatCode>General</c:formatCode>
                <c:ptCount val="5"/>
                <c:pt idx="0">
                  <c:v>146</c:v>
                </c:pt>
                <c:pt idx="1">
                  <c:v>11</c:v>
                </c:pt>
                <c:pt idx="2">
                  <c:v>7</c:v>
                </c:pt>
                <c:pt idx="3">
                  <c:v>26</c:v>
                </c:pt>
              </c:numCache>
            </c:numRef>
          </c:val>
          <c:extLst>
            <c:ext xmlns:c16="http://schemas.microsoft.com/office/drawing/2014/chart" uri="{C3380CC4-5D6E-409C-BE32-E72D297353CC}">
              <c16:uniqueId val="{0000000A-B679-4287-B6D4-F33BA84D3A14}"/>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alpha val="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[responses.xlsx]Sheet1!PivotTable2</c:name>
    <c:fmtId val="11"/>
  </c:pivotSource>
  <c:chart>
    <c:title>
      <c:tx>
        <c:rich>
          <a:bodyPr rot="0" spcFirstLastPara="1" vertOverflow="ellipsis" vert="horz" wrap="square" anchor="ctr" anchorCtr="1"/>
          <a:lstStyle/>
          <a:p>
            <a:pPr algn="ctr">
              <a:defRPr sz="2128" b="1" i="0" u="none" strike="noStrike" kern="1200" baseline="0">
                <a:solidFill>
                  <a:schemeClr val="tx1">
                    <a:lumMod val="65000"/>
                    <a:lumOff val="35000"/>
                  </a:schemeClr>
                </a:solidFill>
                <a:latin typeface="+mn-lt"/>
                <a:ea typeface="+mn-ea"/>
                <a:cs typeface="+mn-cs"/>
              </a:defRPr>
            </a:pPr>
            <a:r>
              <a:rPr lang="en-US" sz="2800" dirty="0">
                <a:solidFill>
                  <a:schemeClr val="tx1"/>
                </a:solidFill>
                <a:latin typeface="Times New Roman" panose="02020603050405020304" pitchFamily="18" charset="0"/>
                <a:cs typeface="Times New Roman" panose="02020603050405020304" pitchFamily="18" charset="0"/>
              </a:rPr>
              <a:t>Gender</a:t>
            </a:r>
          </a:p>
        </c:rich>
      </c:tx>
      <c:layout>
        <c:manualLayout>
          <c:xMode val="edge"/>
          <c:yMode val="edge"/>
          <c:x val="0.38684564254328979"/>
          <c:y val="2.4087220986983772E-2"/>
        </c:manualLayout>
      </c:layout>
      <c:overlay val="0"/>
      <c:spPr>
        <a:noFill/>
        <a:ln>
          <a:noFill/>
        </a:ln>
        <a:effectLst/>
      </c:spPr>
      <c:txPr>
        <a:bodyPr rot="0" spcFirstLastPara="1" vertOverflow="ellipsis" vert="horz" wrap="square" anchor="ctr" anchorCtr="1"/>
        <a:lstStyle/>
        <a:p>
          <a:pPr algn="ct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2"/>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3"/>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4"/>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pivotFmt>
      <c:pivotFmt>
        <c:idx val="5"/>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pivotFmt>
      <c:pivotFmt>
        <c:idx val="6"/>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7"/>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pivotFmt>
      <c:pivotFmt>
        <c:idx val="8"/>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pivotFmt>
    </c:pivotFmts>
    <c:plotArea>
      <c:layout/>
      <c:pieChart>
        <c:varyColors val="1"/>
        <c:ser>
          <c:idx val="0"/>
          <c:order val="0"/>
          <c:tx>
            <c:strRef>
              <c:f>Sheet1!$B$3</c:f>
              <c:strCache>
                <c:ptCount val="1"/>
                <c:pt idx="0">
                  <c:v>Total</c:v>
                </c:pt>
              </c:strCache>
            </c:strRef>
          </c:tx>
          <c:dPt>
            <c:idx val="0"/>
            <c:bubble3D val="0"/>
            <c:spPr>
              <a:gradFill rotWithShape="1">
                <a:gsLst>
                  <a:gs pos="0">
                    <a:schemeClr val="accent5">
                      <a:shade val="76000"/>
                      <a:tint val="94000"/>
                      <a:satMod val="105000"/>
                      <a:lumMod val="102000"/>
                    </a:schemeClr>
                  </a:gs>
                  <a:gs pos="100000">
                    <a:schemeClr val="accent5">
                      <a:shade val="76000"/>
                      <a:shade val="74000"/>
                      <a:satMod val="128000"/>
                      <a:lumMod val="100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EF7-41D0-B25C-710D883DA651}"/>
              </c:ext>
            </c:extLst>
          </c:dPt>
          <c:dPt>
            <c:idx val="1"/>
            <c:bubble3D val="0"/>
            <c:spPr>
              <a:gradFill rotWithShape="1">
                <a:gsLst>
                  <a:gs pos="0">
                    <a:schemeClr val="accent5">
                      <a:tint val="77000"/>
                      <a:tint val="94000"/>
                      <a:satMod val="105000"/>
                      <a:lumMod val="102000"/>
                    </a:schemeClr>
                  </a:gs>
                  <a:gs pos="100000">
                    <a:schemeClr val="accent5">
                      <a:tint val="77000"/>
                      <a:shade val="74000"/>
                      <a:satMod val="128000"/>
                      <a:lumMod val="100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EF7-41D0-B25C-710D883DA651}"/>
              </c:ext>
            </c:extLst>
          </c:dPt>
          <c:dLbls>
            <c:dLbl>
              <c:idx val="0"/>
              <c:layout>
                <c:manualLayout>
                  <c:x val="3.6600511362459523E-2"/>
                  <c:y val="-9.7842872820829291E-3"/>
                </c:manualLayout>
              </c:layout>
              <c:tx>
                <c:rich>
                  <a:bodyPr/>
                  <a:lstStyle/>
                  <a:p>
                    <a:fld id="{2974854F-B0D0-4909-91B5-9753FE52E47E}" type="CATEGORYNAME">
                      <a:rPr lang="en-US" sz="1600"/>
                      <a:pPr/>
                      <a:t>[CATEGORY NAME]</a:t>
                    </a:fld>
                    <a:r>
                      <a:rPr lang="en-US" sz="1600" baseline="0" dirty="0"/>
                      <a:t>
</a:t>
                    </a:r>
                    <a:fld id="{02E0C029-4AD1-4C9B-9CAD-EC7ABDAB93B0}" type="PERCENTAGE">
                      <a:rPr lang="en-US" sz="1600" baseline="0"/>
                      <a:pPr/>
                      <a:t>[PERCENTAGE]</a:t>
                    </a:fld>
                    <a:endParaRPr lang="en-US" sz="1600"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EF7-41D0-B25C-710D883DA651}"/>
                </c:ext>
              </c:extLst>
            </c:dLbl>
            <c:dLbl>
              <c:idx val="1"/>
              <c:layout>
                <c:manualLayout>
                  <c:x val="-8.3333333333333332E-3"/>
                  <c:y val="-4.2437781360066642E-17"/>
                </c:manualLayout>
              </c:layout>
              <c:tx>
                <c:rich>
                  <a:bodyPr/>
                  <a:lstStyle/>
                  <a:p>
                    <a:fld id="{8751B22C-8154-4690-A102-B818E4BE6B90}" type="CATEGORYNAME">
                      <a:rPr lang="en-US" sz="1600"/>
                      <a:pPr/>
                      <a:t>[CATEGORY NAME]</a:t>
                    </a:fld>
                    <a:r>
                      <a:rPr lang="en-US" sz="1600" baseline="0" dirty="0"/>
                      <a:t>
</a:t>
                    </a:r>
                    <a:fld id="{A1D5C0F7-2273-4C5C-9864-2ECECE154C9E}" type="PERCENTAGE">
                      <a:rPr lang="en-US" sz="1600" baseline="0"/>
                      <a:pPr/>
                      <a:t>[PERCENTAGE]</a:t>
                    </a:fld>
                    <a:endParaRPr lang="en-US" sz="1600" baseline="0" dirty="0"/>
                  </a:p>
                </c:rich>
              </c:tx>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EF7-41D0-B25C-710D883DA65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Sheet1!$A$4:$A$6</c:f>
              <c:strCache>
                <c:ptCount val="2"/>
                <c:pt idx="0">
                  <c:v>Female</c:v>
                </c:pt>
                <c:pt idx="1">
                  <c:v>Male</c:v>
                </c:pt>
              </c:strCache>
            </c:strRef>
          </c:cat>
          <c:val>
            <c:numRef>
              <c:f>Sheet1!$B$4:$B$6</c:f>
              <c:numCache>
                <c:formatCode>General</c:formatCode>
                <c:ptCount val="2"/>
                <c:pt idx="0">
                  <c:v>147</c:v>
                </c:pt>
                <c:pt idx="1">
                  <c:v>43</c:v>
                </c:pt>
              </c:numCache>
            </c:numRef>
          </c:val>
          <c:extLst>
            <c:ext xmlns:c16="http://schemas.microsoft.com/office/drawing/2014/chart" uri="{C3380CC4-5D6E-409C-BE32-E72D297353CC}">
              <c16:uniqueId val="{00000004-CEF7-41D0-B25C-710D883DA651}"/>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[responses.xlsx]Sheet1!PivotTable2</c:name>
    <c:fmtId val="6"/>
  </c:pivotSource>
  <c:chart>
    <c:title>
      <c:tx>
        <c:rich>
          <a:bodyPr rot="0" spcFirstLastPara="1" vertOverflow="ellipsis" vert="horz" wrap="square" anchor="ctr" anchorCtr="1"/>
          <a:lstStyle/>
          <a:p>
            <a:pPr>
              <a:defRPr sz="1560" b="0" i="0" u="none" strike="noStrike" kern="1200" spc="0" baseline="0">
                <a:solidFill>
                  <a:schemeClr val="tx1">
                    <a:lumMod val="65000"/>
                    <a:lumOff val="35000"/>
                  </a:schemeClr>
                </a:solidFill>
                <a:latin typeface="+mn-lt"/>
                <a:ea typeface="+mn-ea"/>
                <a:cs typeface="+mn-cs"/>
              </a:defRPr>
            </a:pPr>
            <a:r>
              <a:rPr lang="en-US" sz="2800" b="1" dirty="0">
                <a:solidFill>
                  <a:schemeClr val="tx1"/>
                </a:solidFill>
                <a:latin typeface="Times New Roman" panose="02020603050405020304" pitchFamily="18" charset="0"/>
                <a:cs typeface="Times New Roman" panose="02020603050405020304" pitchFamily="18" charset="0"/>
              </a:rPr>
              <a:t>Do you use your real name and photo online?</a:t>
            </a:r>
          </a:p>
        </c:rich>
      </c:tx>
      <c:layout>
        <c:manualLayout>
          <c:xMode val="edge"/>
          <c:yMode val="edge"/>
          <c:x val="0.10275404527066295"/>
          <c:y val="3.2338328515827741E-2"/>
        </c:manualLayout>
      </c:layout>
      <c:overlay val="0"/>
      <c:spPr>
        <a:noFill/>
        <a:ln>
          <a:noFill/>
        </a:ln>
        <a:effectLst/>
      </c:spPr>
      <c:txPr>
        <a:bodyPr rot="0" spcFirstLastPara="1" vertOverflow="ellipsis" vert="horz" wrap="square" anchor="ctr" anchorCtr="1"/>
        <a:lstStyle/>
        <a:p>
          <a:pPr>
            <a:defRPr sz="156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Sheet1!$B$3</c:f>
              <c:strCache>
                <c:ptCount val="1"/>
                <c:pt idx="0">
                  <c:v>Total</c:v>
                </c:pt>
              </c:strCache>
            </c:strRef>
          </c:tx>
          <c:spPr>
            <a:solidFill>
              <a:schemeClr val="accent5"/>
            </a:solidFill>
            <a:ln>
              <a:noFill/>
            </a:ln>
            <a:effectLst/>
          </c:spPr>
          <c:invertIfNegative val="0"/>
          <c:cat>
            <c:strRef>
              <c:f>Sheet1!$A$4:$A$8</c:f>
              <c:strCache>
                <c:ptCount val="4"/>
                <c:pt idx="0">
                  <c:v>Always</c:v>
                </c:pt>
                <c:pt idx="1">
                  <c:v>Never</c:v>
                </c:pt>
                <c:pt idx="2">
                  <c:v>Rarely</c:v>
                </c:pt>
                <c:pt idx="3">
                  <c:v>Sometimes</c:v>
                </c:pt>
              </c:strCache>
            </c:strRef>
          </c:cat>
          <c:val>
            <c:numRef>
              <c:f>Sheet1!$B$4:$B$8</c:f>
              <c:numCache>
                <c:formatCode>General</c:formatCode>
                <c:ptCount val="4"/>
                <c:pt idx="0">
                  <c:v>58</c:v>
                </c:pt>
                <c:pt idx="1">
                  <c:v>46</c:v>
                </c:pt>
                <c:pt idx="2">
                  <c:v>27</c:v>
                </c:pt>
                <c:pt idx="3">
                  <c:v>61</c:v>
                </c:pt>
              </c:numCache>
            </c:numRef>
          </c:val>
          <c:extLst>
            <c:ext xmlns:c16="http://schemas.microsoft.com/office/drawing/2014/chart" uri="{C3380CC4-5D6E-409C-BE32-E72D297353CC}">
              <c16:uniqueId val="{00000000-D553-441E-95C8-00816CA45D67}"/>
            </c:ext>
          </c:extLst>
        </c:ser>
        <c:dLbls>
          <c:showLegendKey val="0"/>
          <c:showVal val="0"/>
          <c:showCatName val="0"/>
          <c:showSerName val="0"/>
          <c:showPercent val="0"/>
          <c:showBubbleSize val="0"/>
        </c:dLbls>
        <c:gapWidth val="182"/>
        <c:axId val="508205600"/>
        <c:axId val="506737136"/>
      </c:barChart>
      <c:catAx>
        <c:axId val="50820560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endParaRPr lang="en-US"/>
          </a:p>
        </c:txPr>
        <c:crossAx val="506737136"/>
        <c:crosses val="autoZero"/>
        <c:auto val="1"/>
        <c:lblAlgn val="ctr"/>
        <c:lblOffset val="100"/>
        <c:noMultiLvlLbl val="0"/>
      </c:catAx>
      <c:valAx>
        <c:axId val="5067371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endParaRPr lang="en-US"/>
          </a:p>
        </c:txPr>
        <c:crossAx val="5082056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300" baseline="0"/>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[responses.xlsx]Sheet1!PivotTable2</c:name>
    <c:fmtId val="4"/>
  </c:pivotSource>
  <c:chart>
    <c:title>
      <c:tx>
        <c:rich>
          <a:bodyPr rot="0" spcFirstLastPara="1" vertOverflow="ellipsis" vert="horz" wrap="square" anchor="ctr" anchorCtr="1"/>
          <a:lstStyle/>
          <a:p>
            <a:pPr>
              <a:defRPr sz="1560" b="0" i="0" u="none" strike="noStrike" kern="1200" spc="0" baseline="0">
                <a:solidFill>
                  <a:schemeClr val="tx1">
                    <a:lumMod val="65000"/>
                    <a:lumOff val="35000"/>
                  </a:schemeClr>
                </a:solidFill>
                <a:latin typeface="+mn-lt"/>
                <a:ea typeface="+mn-ea"/>
                <a:cs typeface="+mn-cs"/>
              </a:defRPr>
            </a:pPr>
            <a:r>
              <a:rPr lang="en-US" sz="2800" b="1" dirty="0">
                <a:solidFill>
                  <a:schemeClr val="tx1"/>
                </a:solidFill>
                <a:latin typeface="Times New Roman" panose="02020603050405020304" pitchFamily="18" charset="0"/>
                <a:cs typeface="Times New Roman" panose="02020603050405020304" pitchFamily="18" charset="0"/>
              </a:rPr>
              <a:t>How often do you edit or filter your content?</a:t>
            </a:r>
          </a:p>
        </c:rich>
      </c:tx>
      <c:overlay val="0"/>
      <c:spPr>
        <a:noFill/>
        <a:ln>
          <a:noFill/>
        </a:ln>
        <a:effectLst/>
      </c:spPr>
      <c:txPr>
        <a:bodyPr rot="0" spcFirstLastPara="1" vertOverflow="ellipsis" vert="horz" wrap="square" anchor="ctr" anchorCtr="1"/>
        <a:lstStyle/>
        <a:p>
          <a:pPr>
            <a:defRPr sz="156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solidFill>
              <a:schemeClr val="accent5"/>
            </a:solidFill>
            <a:ln>
              <a:noFill/>
            </a:ln>
            <a:effectLst/>
          </c:spPr>
          <c:invertIfNegative val="0"/>
          <c:cat>
            <c:strRef>
              <c:f>Sheet1!$A$4:$A$8</c:f>
              <c:strCache>
                <c:ptCount val="4"/>
                <c:pt idx="0">
                  <c:v>Always</c:v>
                </c:pt>
                <c:pt idx="1">
                  <c:v>Never</c:v>
                </c:pt>
                <c:pt idx="2">
                  <c:v>Often</c:v>
                </c:pt>
                <c:pt idx="3">
                  <c:v>Sometimes</c:v>
                </c:pt>
              </c:strCache>
            </c:strRef>
          </c:cat>
          <c:val>
            <c:numRef>
              <c:f>Sheet1!$B$4:$B$8</c:f>
              <c:numCache>
                <c:formatCode>General</c:formatCode>
                <c:ptCount val="4"/>
                <c:pt idx="0">
                  <c:v>25</c:v>
                </c:pt>
                <c:pt idx="1">
                  <c:v>62</c:v>
                </c:pt>
                <c:pt idx="2">
                  <c:v>37</c:v>
                </c:pt>
                <c:pt idx="3">
                  <c:v>66</c:v>
                </c:pt>
              </c:numCache>
            </c:numRef>
          </c:val>
          <c:extLst>
            <c:ext xmlns:c16="http://schemas.microsoft.com/office/drawing/2014/chart" uri="{C3380CC4-5D6E-409C-BE32-E72D297353CC}">
              <c16:uniqueId val="{00000000-75E6-4627-BD1E-D0A28BD86CAA}"/>
            </c:ext>
          </c:extLst>
        </c:ser>
        <c:dLbls>
          <c:showLegendKey val="0"/>
          <c:showVal val="0"/>
          <c:showCatName val="0"/>
          <c:showSerName val="0"/>
          <c:showPercent val="0"/>
          <c:showBubbleSize val="0"/>
        </c:dLbls>
        <c:gapWidth val="219"/>
        <c:overlap val="-27"/>
        <c:axId val="509385704"/>
        <c:axId val="509386064"/>
      </c:barChart>
      <c:catAx>
        <c:axId val="509385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endParaRPr lang="en-US"/>
          </a:p>
        </c:txPr>
        <c:crossAx val="509386064"/>
        <c:crosses val="autoZero"/>
        <c:auto val="1"/>
        <c:lblAlgn val="ctr"/>
        <c:lblOffset val="100"/>
        <c:noMultiLvlLbl val="0"/>
      </c:catAx>
      <c:valAx>
        <c:axId val="5093860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300" b="0" i="0" u="none" strike="noStrike" kern="1200" baseline="0">
                <a:solidFill>
                  <a:schemeClr val="tx1">
                    <a:lumMod val="65000"/>
                    <a:lumOff val="35000"/>
                  </a:schemeClr>
                </a:solidFill>
                <a:latin typeface="+mn-lt"/>
                <a:ea typeface="+mn-ea"/>
                <a:cs typeface="+mn-cs"/>
              </a:defRPr>
            </a:pPr>
            <a:endParaRPr lang="en-US"/>
          </a:p>
        </c:txPr>
        <c:crossAx val="50938570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300" baseline="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[responses.xlsx]Sheet1!PivotTable2</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400" b="1" dirty="0">
                <a:solidFill>
                  <a:schemeClr val="tx1"/>
                </a:solidFill>
                <a:latin typeface="Times New Roman" panose="02020603050405020304" pitchFamily="18" charset="0"/>
                <a:cs typeface="Times New Roman" panose="02020603050405020304" pitchFamily="18" charset="0"/>
              </a:rPr>
              <a:t>Do you feel more confident on social media?</a:t>
            </a:r>
          </a:p>
        </c:rich>
      </c:tx>
      <c:layout>
        <c:manualLayout>
          <c:xMode val="edge"/>
          <c:yMode val="edge"/>
          <c:x val="0.17324047996984809"/>
          <c:y val="6.454460822616399E-3"/>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5"/>
          </a:solidFill>
          <a:ln w="19050">
            <a:solidFill>
              <a:schemeClr val="lt1"/>
            </a:solidFill>
          </a:ln>
          <a:effectLst>
            <a:outerShdw blurRad="317500" algn="ctr" rotWithShape="0">
              <a:prstClr val="black">
                <a:alpha val="25000"/>
              </a:prst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
        <c:spPr>
          <a:solidFill>
            <a:schemeClr val="accent5"/>
          </a:solidFill>
          <a:ln w="19050">
            <a:solidFill>
              <a:schemeClr val="lt1"/>
            </a:solid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5"/>
          </a:solidFill>
          <a:ln w="19050">
            <a:solidFill>
              <a:schemeClr val="lt1"/>
            </a:solidFill>
          </a:ln>
          <a:effectLst>
            <a:outerShdw blurRad="317500" algn="ctr" rotWithShape="0">
              <a:prstClr val="black">
                <a:alpha val="25000"/>
              </a:prstClr>
            </a:outerShdw>
          </a:effectLst>
        </c:spPr>
      </c:pivotFmt>
      <c:pivotFmt>
        <c:idx val="3"/>
        <c:spPr>
          <a:solidFill>
            <a:schemeClr val="accent5"/>
          </a:solidFill>
          <a:ln w="19050">
            <a:solidFill>
              <a:schemeClr val="lt1"/>
            </a:solidFill>
          </a:ln>
          <a:effectLst>
            <a:outerShdw blurRad="317500" algn="ctr" rotWithShape="0">
              <a:prstClr val="black">
                <a:alpha val="25000"/>
              </a:prstClr>
            </a:outerShdw>
          </a:effectLst>
        </c:spPr>
      </c:pivotFmt>
      <c:pivotFmt>
        <c:idx val="4"/>
        <c:spPr>
          <a:solidFill>
            <a:schemeClr val="accent5"/>
          </a:solidFill>
          <a:ln w="19050">
            <a:solidFill>
              <a:schemeClr val="lt1"/>
            </a:solid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5"/>
          </a:solidFill>
          <a:ln w="19050">
            <a:solidFill>
              <a:schemeClr val="lt1"/>
            </a:solidFill>
          </a:ln>
          <a:effectLst>
            <a:outerShdw blurRad="317500" algn="ctr" rotWithShape="0">
              <a:prstClr val="black">
                <a:alpha val="25000"/>
              </a:prstClr>
            </a:outerShdw>
          </a:effectLst>
        </c:spPr>
      </c:pivotFmt>
      <c:pivotFmt>
        <c:idx val="6"/>
        <c:spPr>
          <a:solidFill>
            <a:schemeClr val="accent5"/>
          </a:solidFill>
          <a:ln w="19050">
            <a:solidFill>
              <a:schemeClr val="lt1"/>
            </a:solidFill>
          </a:ln>
          <a:effectLst>
            <a:outerShdw blurRad="317500" algn="ctr" rotWithShape="0">
              <a:prstClr val="black">
                <a:alpha val="25000"/>
              </a:prstClr>
            </a:outerShdw>
          </a:effectLst>
        </c:spPr>
      </c:pivotFmt>
    </c:pivotFmts>
    <c:plotArea>
      <c:layout/>
      <c:pieChart>
        <c:varyColors val="1"/>
        <c:ser>
          <c:idx val="0"/>
          <c:order val="0"/>
          <c:tx>
            <c:strRef>
              <c:f>Sheet1!$B$3</c:f>
              <c:strCache>
                <c:ptCount val="1"/>
                <c:pt idx="0">
                  <c:v>Total</c:v>
                </c:pt>
              </c:strCache>
            </c:strRef>
          </c:tx>
          <c:dPt>
            <c:idx val="0"/>
            <c:bubble3D val="0"/>
            <c:spPr>
              <a:solidFill>
                <a:schemeClr val="accent5">
                  <a:shade val="76000"/>
                </a:schemeClr>
              </a:solidFill>
              <a:ln w="19050">
                <a:solidFill>
                  <a:schemeClr val="lt1"/>
                </a:solidFill>
              </a:ln>
              <a:effectLst/>
            </c:spPr>
            <c:extLst>
              <c:ext xmlns:c16="http://schemas.microsoft.com/office/drawing/2014/chart" uri="{C3380CC4-5D6E-409C-BE32-E72D297353CC}">
                <c16:uniqueId val="{00000001-FDC9-4BC0-AD65-DAAB1D634C73}"/>
              </c:ext>
            </c:extLst>
          </c:dPt>
          <c:dPt>
            <c:idx val="1"/>
            <c:bubble3D val="0"/>
            <c:spPr>
              <a:solidFill>
                <a:schemeClr val="accent5">
                  <a:tint val="77000"/>
                </a:schemeClr>
              </a:solidFill>
              <a:ln w="19050">
                <a:solidFill>
                  <a:schemeClr val="lt1"/>
                </a:solidFill>
              </a:ln>
              <a:effectLst/>
            </c:spPr>
            <c:extLst>
              <c:ext xmlns:c16="http://schemas.microsoft.com/office/drawing/2014/chart" uri="{C3380CC4-5D6E-409C-BE32-E72D297353CC}">
                <c16:uniqueId val="{00000003-FDC9-4BC0-AD65-DAAB1D634C73}"/>
              </c:ext>
            </c:extLst>
          </c:dPt>
          <c:dLbls>
            <c:dLbl>
              <c:idx val="0"/>
              <c:tx>
                <c:rich>
                  <a:bodyPr/>
                  <a:lstStyle/>
                  <a:p>
                    <a:fld id="{6B48D0B6-E67A-4563-8725-3C07768978E3}" type="CATEGORYNAME">
                      <a:rPr lang="en-US" sz="1800" b="1">
                        <a:latin typeface="Times New Roman" panose="02020603050405020304" pitchFamily="18" charset="0"/>
                        <a:cs typeface="Times New Roman" panose="02020603050405020304" pitchFamily="18" charset="0"/>
                      </a:rPr>
                      <a:pPr/>
                      <a:t>[CATEGORY NAME]</a:t>
                    </a:fld>
                    <a:r>
                      <a:rPr lang="en-US" sz="1800" b="1" baseline="0" dirty="0">
                        <a:latin typeface="Times New Roman" panose="02020603050405020304" pitchFamily="18" charset="0"/>
                        <a:cs typeface="Times New Roman" panose="02020603050405020304" pitchFamily="18" charset="0"/>
                      </a:rPr>
                      <a:t>
</a:t>
                    </a:r>
                    <a:fld id="{CB269DAC-EC12-4996-B9BA-AADCBD7C69E1}" type="PERCENTAGE">
                      <a:rPr lang="en-US" sz="1800" b="1" baseline="0">
                        <a:latin typeface="Times New Roman" panose="02020603050405020304" pitchFamily="18" charset="0"/>
                        <a:cs typeface="Times New Roman" panose="02020603050405020304" pitchFamily="18" charset="0"/>
                      </a:rPr>
                      <a:pPr/>
                      <a:t>[PERCENTAGE]</a:t>
                    </a:fld>
                    <a:endParaRPr lang="en-US" sz="1800" b="1" baseline="0" dirty="0">
                      <a:latin typeface="Times New Roman" panose="02020603050405020304" pitchFamily="18" charset="0"/>
                      <a:cs typeface="Times New Roman" panose="02020603050405020304" pitchFamily="18" charset="0"/>
                    </a:endParaRPr>
                  </a:p>
                </c:rich>
              </c:tx>
              <c:dLblPos val="in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FDC9-4BC0-AD65-DAAB1D634C73}"/>
                </c:ext>
              </c:extLst>
            </c:dLbl>
            <c:dLbl>
              <c:idx val="1"/>
              <c:tx>
                <c:rich>
                  <a:bodyPr/>
                  <a:lstStyle/>
                  <a:p>
                    <a:fld id="{D26CE6FA-113C-49A3-BF1B-BEA2538194B8}" type="CATEGORYNAME">
                      <a:rPr lang="en-US" sz="1800" b="1">
                        <a:latin typeface="Times New Roman" panose="02020603050405020304" pitchFamily="18" charset="0"/>
                        <a:cs typeface="Times New Roman" panose="02020603050405020304" pitchFamily="18" charset="0"/>
                      </a:rPr>
                      <a:pPr/>
                      <a:t>[CATEGORY NAME]</a:t>
                    </a:fld>
                    <a:r>
                      <a:rPr lang="en-US" sz="1800" b="1" baseline="0" dirty="0">
                        <a:latin typeface="Times New Roman" panose="02020603050405020304" pitchFamily="18" charset="0"/>
                        <a:cs typeface="Times New Roman" panose="02020603050405020304" pitchFamily="18" charset="0"/>
                      </a:rPr>
                      <a:t>
</a:t>
                    </a:r>
                    <a:fld id="{9BA650C0-6ADA-4833-AE83-BD104BD99F31}" type="PERCENTAGE">
                      <a:rPr lang="en-US" sz="1800" b="1" baseline="0">
                        <a:latin typeface="Times New Roman" panose="02020603050405020304" pitchFamily="18" charset="0"/>
                        <a:cs typeface="Times New Roman" panose="02020603050405020304" pitchFamily="18" charset="0"/>
                      </a:rPr>
                      <a:pPr/>
                      <a:t>[PERCENTAGE]</a:t>
                    </a:fld>
                    <a:endParaRPr lang="en-US" sz="1800" b="1" baseline="0" dirty="0">
                      <a:latin typeface="Times New Roman" panose="02020603050405020304" pitchFamily="18" charset="0"/>
                      <a:cs typeface="Times New Roman" panose="02020603050405020304" pitchFamily="18" charset="0"/>
                    </a:endParaRPr>
                  </a:p>
                </c:rich>
              </c:tx>
              <c:dLblPos val="in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DC9-4BC0-AD65-DAAB1D634C73}"/>
                </c:ext>
              </c:extLst>
            </c:dLbl>
            <c:spPr>
              <a:solidFill>
                <a:prstClr val="white">
                  <a:alpha val="0"/>
                </a:prstClr>
              </a:solidFill>
              <a:ln>
                <a:solidFill>
                  <a:prstClr val="black">
                    <a:lumMod val="25000"/>
                    <a:lumOff val="75000"/>
                    <a:alpha val="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Sheet1!$A$4:$A$6</c:f>
              <c:strCache>
                <c:ptCount val="2"/>
                <c:pt idx="0">
                  <c:v>No</c:v>
                </c:pt>
                <c:pt idx="1">
                  <c:v>Yes</c:v>
                </c:pt>
              </c:strCache>
            </c:strRef>
          </c:cat>
          <c:val>
            <c:numRef>
              <c:f>Sheet1!$B$4:$B$6</c:f>
              <c:numCache>
                <c:formatCode>General</c:formatCode>
                <c:ptCount val="2"/>
                <c:pt idx="0">
                  <c:v>87</c:v>
                </c:pt>
                <c:pt idx="1">
                  <c:v>103</c:v>
                </c:pt>
              </c:numCache>
            </c:numRef>
          </c:val>
          <c:extLst>
            <c:ext xmlns:c16="http://schemas.microsoft.com/office/drawing/2014/chart" uri="{C3380CC4-5D6E-409C-BE32-E72D297353CC}">
              <c16:uniqueId val="{00000004-FDC9-4BC0-AD65-DAAB1D634C73}"/>
            </c:ext>
          </c:extLst>
        </c:ser>
        <c:dLbls>
          <c:dLblPos val="outEnd"/>
          <c:showLegendKey val="0"/>
          <c:showVal val="0"/>
          <c:showCatName val="1"/>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prstClr val="black">
          <a:lumMod val="25000"/>
          <a:lumOff val="75000"/>
          <a:alpha val="0"/>
        </a:prstClr>
      </a:solid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sz="2400" dirty="0">
                <a:solidFill>
                  <a:schemeClr val="tx1"/>
                </a:solidFill>
                <a:latin typeface="Times New Roman" panose="02020603050405020304" pitchFamily="18" charset="0"/>
                <a:cs typeface="Times New Roman" panose="02020603050405020304" pitchFamily="18" charset="0"/>
              </a:rPr>
              <a:t>On the scale of 1-5, how real do you think your online personality is? </a:t>
            </a:r>
          </a:p>
        </c:rich>
      </c:tx>
      <c:layout>
        <c:manualLayout>
          <c:xMode val="edge"/>
          <c:yMode val="edge"/>
          <c:x val="0.19889710792511556"/>
          <c:y val="1.982749585385853E-4"/>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1</c:v>
                </c:pt>
                <c:pt idx="1">
                  <c:v>2</c:v>
                </c:pt>
                <c:pt idx="2">
                  <c:v>3</c:v>
                </c:pt>
                <c:pt idx="3">
                  <c:v>4</c:v>
                </c:pt>
                <c:pt idx="4">
                  <c:v>5</c:v>
                </c:pt>
              </c:numCache>
            </c:numRef>
          </c:cat>
          <c:val>
            <c:numRef>
              <c:f>Sheet1!$B$2:$B$6</c:f>
              <c:numCache>
                <c:formatCode>General</c:formatCode>
                <c:ptCount val="5"/>
                <c:pt idx="0">
                  <c:v>7</c:v>
                </c:pt>
                <c:pt idx="1">
                  <c:v>6</c:v>
                </c:pt>
                <c:pt idx="2">
                  <c:v>45</c:v>
                </c:pt>
                <c:pt idx="3">
                  <c:v>69</c:v>
                </c:pt>
                <c:pt idx="4">
                  <c:v>64</c:v>
                </c:pt>
              </c:numCache>
            </c:numRef>
          </c:val>
          <c:extLst>
            <c:ext xmlns:c16="http://schemas.microsoft.com/office/drawing/2014/chart" uri="{C3380CC4-5D6E-409C-BE32-E72D297353CC}">
              <c16:uniqueId val="{00000000-6A17-4E2C-8BEE-5C1C9B7931BB}"/>
            </c:ext>
          </c:extLst>
        </c:ser>
        <c:dLbls>
          <c:dLblPos val="inEnd"/>
          <c:showLegendKey val="0"/>
          <c:showVal val="1"/>
          <c:showCatName val="0"/>
          <c:showSerName val="0"/>
          <c:showPercent val="0"/>
          <c:showBubbleSize val="0"/>
        </c:dLbls>
        <c:gapWidth val="100"/>
        <c:axId val="596834384"/>
        <c:axId val="596833664"/>
      </c:barChart>
      <c:catAx>
        <c:axId val="596834384"/>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96833664"/>
        <c:crosses val="autoZero"/>
        <c:auto val="1"/>
        <c:lblAlgn val="ctr"/>
        <c:lblOffset val="100"/>
        <c:noMultiLvlLbl val="0"/>
      </c:catAx>
      <c:valAx>
        <c:axId val="5968336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96834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[responses.xlsx]Sheet1!PivotTable2</c:name>
    <c:fmtId val="6"/>
  </c:pivotSource>
  <c:chart>
    <c:title>
      <c:tx>
        <c:rich>
          <a:bodyPr rot="0" spcFirstLastPara="1" vertOverflow="ellipsis" vert="horz" wrap="square" anchor="ctr" anchorCtr="1"/>
          <a:lstStyle/>
          <a:p>
            <a:pPr algn="ctr">
              <a:defRPr sz="2128" b="1" i="0" u="none" strike="noStrike" kern="1200" baseline="0">
                <a:solidFill>
                  <a:schemeClr val="tx1">
                    <a:lumMod val="65000"/>
                    <a:lumOff val="35000"/>
                  </a:schemeClr>
                </a:solidFill>
                <a:latin typeface="+mn-lt"/>
                <a:ea typeface="+mn-ea"/>
                <a:cs typeface="+mn-cs"/>
              </a:defRPr>
            </a:pPr>
            <a:r>
              <a:rPr lang="en-US" sz="2000" dirty="0">
                <a:solidFill>
                  <a:schemeClr val="tx1"/>
                </a:solidFill>
                <a:latin typeface="Times New Roman" panose="02020603050405020304" pitchFamily="18" charset="0"/>
                <a:cs typeface="Times New Roman" panose="02020603050405020304" pitchFamily="18" charset="0"/>
              </a:rPr>
              <a:t>Similarities between online and real personality</a:t>
            </a:r>
          </a:p>
        </c:rich>
      </c:tx>
      <c:layout>
        <c:manualLayout>
          <c:xMode val="edge"/>
          <c:yMode val="edge"/>
          <c:x val="0.11687393480754182"/>
          <c:y val="0"/>
        </c:manualLayout>
      </c:layout>
      <c:overlay val="0"/>
      <c:spPr>
        <a:noFill/>
        <a:ln>
          <a:noFill/>
        </a:ln>
        <a:effectLst/>
      </c:spPr>
      <c:txPr>
        <a:bodyPr rot="0" spcFirstLastPara="1" vertOverflow="ellipsis" vert="horz" wrap="square" anchor="ctr" anchorCtr="1"/>
        <a:lstStyle/>
        <a:p>
          <a:pPr algn="ct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Sheet1!$A$4:$A$8</c:f>
              <c:strCache>
                <c:ptCount val="4"/>
                <c:pt idx="0">
                  <c:v>Different</c:v>
                </c:pt>
                <c:pt idx="1">
                  <c:v>Somewhat Similar</c:v>
                </c:pt>
                <c:pt idx="2">
                  <c:v>Very Different</c:v>
                </c:pt>
                <c:pt idx="3">
                  <c:v>Very Similar</c:v>
                </c:pt>
              </c:strCache>
            </c:strRef>
          </c:cat>
          <c:val>
            <c:numRef>
              <c:f>Sheet1!$B$4:$B$8</c:f>
              <c:numCache>
                <c:formatCode>General</c:formatCode>
                <c:ptCount val="4"/>
                <c:pt idx="0">
                  <c:v>16</c:v>
                </c:pt>
                <c:pt idx="1">
                  <c:v>81</c:v>
                </c:pt>
                <c:pt idx="2">
                  <c:v>11</c:v>
                </c:pt>
                <c:pt idx="3">
                  <c:v>80</c:v>
                </c:pt>
              </c:numCache>
            </c:numRef>
          </c:val>
          <c:extLst>
            <c:ext xmlns:c16="http://schemas.microsoft.com/office/drawing/2014/chart" uri="{C3380CC4-5D6E-409C-BE32-E72D297353CC}">
              <c16:uniqueId val="{00000000-EF9E-44AF-BD6E-045381B42F5B}"/>
            </c:ext>
          </c:extLst>
        </c:ser>
        <c:dLbls>
          <c:dLblPos val="outEnd"/>
          <c:showLegendKey val="0"/>
          <c:showVal val="1"/>
          <c:showCatName val="0"/>
          <c:showSerName val="0"/>
          <c:showPercent val="0"/>
          <c:showBubbleSize val="0"/>
        </c:dLbls>
        <c:gapWidth val="100"/>
        <c:overlap val="-24"/>
        <c:axId val="493822264"/>
        <c:axId val="493822624"/>
      </c:barChart>
      <c:catAx>
        <c:axId val="493822264"/>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3822624"/>
        <c:crosses val="autoZero"/>
        <c:auto val="1"/>
        <c:lblAlgn val="ctr"/>
        <c:lblOffset val="100"/>
        <c:noMultiLvlLbl val="0"/>
      </c:catAx>
      <c:valAx>
        <c:axId val="4938226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38222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[responses.xlsx]Sheet1!PivotTable2</c:name>
    <c:fmtId val="-1"/>
  </c:pivotSource>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dirty="0">
                <a:solidFill>
                  <a:schemeClr val="tx1"/>
                </a:solidFill>
                <a:latin typeface="Times New Roman" panose="02020603050405020304" pitchFamily="18" charset="0"/>
                <a:cs typeface="Times New Roman" panose="02020603050405020304" pitchFamily="18" charset="0"/>
              </a:rPr>
              <a:t>Which</a:t>
            </a:r>
            <a:r>
              <a:rPr lang="en-US" baseline="0" dirty="0">
                <a:solidFill>
                  <a:schemeClr val="tx1"/>
                </a:solidFill>
                <a:latin typeface="Times New Roman" panose="02020603050405020304" pitchFamily="18" charset="0"/>
                <a:cs typeface="Times New Roman" panose="02020603050405020304" pitchFamily="18" charset="0"/>
              </a:rPr>
              <a:t> version of yours is better?</a:t>
            </a:r>
            <a:endParaRPr lang="en-US" dirty="0">
              <a:solidFill>
                <a:schemeClr val="tx1"/>
              </a:solidFill>
              <a:latin typeface="Times New Roman" panose="02020603050405020304" pitchFamily="18" charset="0"/>
              <a:cs typeface="Times New Roman" panose="02020603050405020304" pitchFamily="18" charset="0"/>
            </a:endParaRPr>
          </a:p>
        </c:rich>
      </c:tx>
      <c:layout>
        <c:manualLayout>
          <c:xMode val="edge"/>
          <c:yMode val="edge"/>
          <c:x val="0.12576604025242749"/>
          <c:y val="3.0474959206727756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2"/>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pivotFmt>
      <c:pivotFmt>
        <c:idx val="3"/>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pivotFmt>
      <c:pivotFmt>
        <c:idx val="4"/>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pivotFmt>
      <c:pivotFmt>
        <c:idx val="5"/>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pivotFmt>
      <c:pivotFmt>
        <c:idx val="7"/>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pivotFmt>
      <c:pivotFmt>
        <c:idx val="8"/>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317500" algn="ctr" rotWithShape="0">
              <a:prstClr val="black">
                <a:alpha val="25000"/>
              </a:prstClr>
            </a:outerShdw>
          </a:effectLst>
        </c:spPr>
      </c:pivotFmt>
    </c:pivotFmts>
    <c:plotArea>
      <c:layout/>
      <c:pieChart>
        <c:varyColors val="1"/>
        <c:ser>
          <c:idx val="0"/>
          <c:order val="0"/>
          <c:tx>
            <c:strRef>
              <c:f>Sheet1!$B$3</c:f>
              <c:strCache>
                <c:ptCount val="1"/>
                <c:pt idx="0">
                  <c:v>Total</c:v>
                </c:pt>
              </c:strCache>
            </c:strRef>
          </c:tx>
          <c:dPt>
            <c:idx val="0"/>
            <c:bubble3D val="0"/>
            <c:spPr>
              <a:gradFill rotWithShape="1">
                <a:gsLst>
                  <a:gs pos="0">
                    <a:schemeClr val="accent5">
                      <a:shade val="65000"/>
                      <a:tint val="94000"/>
                      <a:satMod val="105000"/>
                      <a:lumMod val="102000"/>
                    </a:schemeClr>
                  </a:gs>
                  <a:gs pos="100000">
                    <a:schemeClr val="accent5">
                      <a:shade val="65000"/>
                      <a:shade val="74000"/>
                      <a:satMod val="128000"/>
                      <a:lumMod val="100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7CE-4F16-B148-FFA0DE0AFCC8}"/>
              </c:ext>
            </c:extLst>
          </c:dPt>
          <c:dPt>
            <c:idx val="1"/>
            <c:bubble3D val="0"/>
            <c:spPr>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7CE-4F16-B148-FFA0DE0AFCC8}"/>
              </c:ext>
            </c:extLst>
          </c:dPt>
          <c:dPt>
            <c:idx val="2"/>
            <c:bubble3D val="0"/>
            <c:spPr>
              <a:gradFill rotWithShape="1">
                <a:gsLst>
                  <a:gs pos="0">
                    <a:schemeClr val="accent5">
                      <a:tint val="65000"/>
                      <a:tint val="94000"/>
                      <a:satMod val="105000"/>
                      <a:lumMod val="102000"/>
                    </a:schemeClr>
                  </a:gs>
                  <a:gs pos="100000">
                    <a:schemeClr val="accent5">
                      <a:tint val="65000"/>
                      <a:shade val="74000"/>
                      <a:satMod val="128000"/>
                      <a:lumMod val="100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7CE-4F16-B148-FFA0DE0AFCC8}"/>
              </c:ext>
            </c:extLst>
          </c:dPt>
          <c:dLbls>
            <c:dLbl>
              <c:idx val="0"/>
              <c:tx>
                <c:rich>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fld id="{4EB33550-7AE0-43A1-8449-4F5A0A2BAF6D}" type="CATEGORYNAME">
                      <a:rPr lang="en-US" sz="1600" b="1">
                        <a:latin typeface="Times New Roman" panose="02020603050405020304" pitchFamily="18" charset="0"/>
                        <a:cs typeface="Times New Roman" panose="02020603050405020304" pitchFamily="18" charset="0"/>
                      </a:rPr>
                      <a:pPr>
                        <a:defRPr/>
                      </a:pPr>
                      <a:t>[CATEGORY NAME]</a:t>
                    </a:fld>
                    <a:r>
                      <a:rPr lang="en-US" sz="1600" b="1" baseline="0" dirty="0">
                        <a:latin typeface="Times New Roman" panose="02020603050405020304" pitchFamily="18" charset="0"/>
                        <a:cs typeface="Times New Roman" panose="02020603050405020304" pitchFamily="18" charset="0"/>
                      </a:rPr>
                      <a:t>
</a:t>
                    </a:r>
                    <a:fld id="{BF1DB30D-B663-4FA2-9275-B80E8FFA463D}" type="PERCENTAGE">
                      <a:rPr lang="en-US" sz="1600" b="1" baseline="0">
                        <a:latin typeface="Times New Roman" panose="02020603050405020304" pitchFamily="18" charset="0"/>
                        <a:cs typeface="Times New Roman" panose="02020603050405020304" pitchFamily="18" charset="0"/>
                      </a:rPr>
                      <a:pPr>
                        <a:defRPr/>
                      </a:pPr>
                      <a:t>[PERCENTAGE]</a:t>
                    </a:fld>
                    <a:endParaRPr lang="en-US" sz="1600" b="1" baseline="0" dirty="0">
                      <a:latin typeface="Times New Roman" panose="02020603050405020304" pitchFamily="18" charset="0"/>
                      <a:cs typeface="Times New Roman" panose="02020603050405020304" pitchFamily="18" charset="0"/>
                    </a:endParaRPr>
                  </a:p>
                </c:rich>
              </c:tx>
              <c:spPr>
                <a:solidFill>
                  <a:prstClr val="white">
                    <a:alpha val="0"/>
                  </a:prstClr>
                </a:solidFill>
                <a:ln>
                  <a:solidFill>
                    <a:prstClr val="black">
                      <a:lumMod val="25000"/>
                      <a:lumOff val="75000"/>
                      <a:alpha val="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7CE-4F16-B148-FFA0DE0AFCC8}"/>
                </c:ext>
              </c:extLst>
            </c:dLbl>
            <c:dLbl>
              <c:idx val="1"/>
              <c:layout>
                <c:manualLayout>
                  <c:x val="0.15980205397475883"/>
                  <c:y val="-6.8061033109748828E-2"/>
                </c:manualLayout>
              </c:layout>
              <c:tx>
                <c:rich>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fld id="{C56616CB-0D81-4E6B-866D-732D8096FCA1}" type="CATEGORYNAME">
                      <a:rPr lang="en-US" sz="1600" b="1">
                        <a:latin typeface="Times New Roman" panose="02020603050405020304" pitchFamily="18" charset="0"/>
                        <a:cs typeface="Times New Roman" panose="02020603050405020304" pitchFamily="18" charset="0"/>
                      </a:rPr>
                      <a:pPr>
                        <a:defRPr/>
                      </a:pPr>
                      <a:t>[CATEGORY NAME]</a:t>
                    </a:fld>
                    <a:r>
                      <a:rPr lang="en-US" sz="1600" b="1" baseline="0" dirty="0">
                        <a:latin typeface="Times New Roman" panose="02020603050405020304" pitchFamily="18" charset="0"/>
                        <a:cs typeface="Times New Roman" panose="02020603050405020304" pitchFamily="18" charset="0"/>
                      </a:rPr>
                      <a:t>
</a:t>
                    </a:r>
                    <a:fld id="{968FB308-EA8D-45C0-8559-D22FA0057C76}" type="PERCENTAGE">
                      <a:rPr lang="en-US" sz="1600" b="1" baseline="0">
                        <a:latin typeface="Times New Roman" panose="02020603050405020304" pitchFamily="18" charset="0"/>
                        <a:cs typeface="Times New Roman" panose="02020603050405020304" pitchFamily="18" charset="0"/>
                      </a:rPr>
                      <a:pPr>
                        <a:defRPr/>
                      </a:pPr>
                      <a:t>[PERCENTAGE]</a:t>
                    </a:fld>
                    <a:endParaRPr lang="en-US" sz="1600" b="1" baseline="0" dirty="0">
                      <a:latin typeface="Times New Roman" panose="02020603050405020304" pitchFamily="18" charset="0"/>
                      <a:cs typeface="Times New Roman" panose="02020603050405020304" pitchFamily="18" charset="0"/>
                    </a:endParaRPr>
                  </a:p>
                </c:rich>
              </c:tx>
              <c:spPr>
                <a:solidFill>
                  <a:prstClr val="white">
                    <a:alpha val="0"/>
                  </a:prstClr>
                </a:solidFill>
                <a:ln>
                  <a:solidFill>
                    <a:prstClr val="black">
                      <a:lumMod val="25000"/>
                      <a:lumOff val="75000"/>
                      <a:alpha val="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21952321236657205"/>
                      <c:h val="0.17985950839639872"/>
                    </c:manualLayout>
                  </c15:layout>
                  <c15:dlblFieldTable/>
                  <c15:showDataLabelsRange val="0"/>
                </c:ext>
                <c:ext xmlns:c16="http://schemas.microsoft.com/office/drawing/2014/chart" uri="{C3380CC4-5D6E-409C-BE32-E72D297353CC}">
                  <c16:uniqueId val="{00000003-37CE-4F16-B148-FFA0DE0AFCC8}"/>
                </c:ext>
              </c:extLst>
            </c:dLbl>
            <c:dLbl>
              <c:idx val="2"/>
              <c:tx>
                <c:rich>
                  <a:bodyPr rot="0" spcFirstLastPara="1" vertOverflow="clip" horzOverflow="clip" vert="horz" wrap="square" lIns="38100" tIns="19050" rIns="38100" bIns="19050" anchor="ctr" anchorCtr="1">
                    <a:noAutofit/>
                  </a:bodyPr>
                  <a:lstStyle/>
                  <a:p>
                    <a:pPr>
                      <a:defRPr sz="1197" b="0" i="0" u="none" strike="noStrike" kern="1200" baseline="0">
                        <a:solidFill>
                          <a:schemeClr val="dk1">
                            <a:lumMod val="65000"/>
                            <a:lumOff val="35000"/>
                          </a:schemeClr>
                        </a:solidFill>
                        <a:latin typeface="+mn-lt"/>
                        <a:ea typeface="+mn-ea"/>
                        <a:cs typeface="+mn-cs"/>
                      </a:defRPr>
                    </a:pPr>
                    <a:fld id="{5C3C6079-C75E-4869-9879-2F6C3146C80F}" type="CATEGORYNAME">
                      <a:rPr lang="en-US" sz="1600" b="1">
                        <a:latin typeface="Times New Roman" panose="02020603050405020304" pitchFamily="18" charset="0"/>
                        <a:cs typeface="Times New Roman" panose="02020603050405020304" pitchFamily="18" charset="0"/>
                      </a:rPr>
                      <a:pPr>
                        <a:defRPr/>
                      </a:pPr>
                      <a:t>[CATEGORY NAME]</a:t>
                    </a:fld>
                    <a:r>
                      <a:rPr lang="en-US" sz="1600" b="1" baseline="0" dirty="0">
                        <a:latin typeface="Times New Roman" panose="02020603050405020304" pitchFamily="18" charset="0"/>
                        <a:cs typeface="Times New Roman" panose="02020603050405020304" pitchFamily="18" charset="0"/>
                      </a:rPr>
                      <a:t>
</a:t>
                    </a:r>
                    <a:fld id="{4FB8B936-79D6-4955-9423-709BFCCCB546}" type="PERCENTAGE">
                      <a:rPr lang="en-US" sz="1600" b="1" baseline="0">
                        <a:latin typeface="Times New Roman" panose="02020603050405020304" pitchFamily="18" charset="0"/>
                        <a:cs typeface="Times New Roman" panose="02020603050405020304" pitchFamily="18" charset="0"/>
                      </a:rPr>
                      <a:pPr>
                        <a:defRPr/>
                      </a:pPr>
                      <a:t>[PERCENTAGE]</a:t>
                    </a:fld>
                    <a:endParaRPr lang="en-US" sz="1600" b="1" baseline="0" dirty="0">
                      <a:latin typeface="Times New Roman" panose="02020603050405020304" pitchFamily="18" charset="0"/>
                      <a:cs typeface="Times New Roman" panose="02020603050405020304" pitchFamily="18" charset="0"/>
                    </a:endParaRPr>
                  </a:p>
                </c:rich>
              </c:tx>
              <c:spPr>
                <a:solidFill>
                  <a:prstClr val="white">
                    <a:alpha val="0"/>
                  </a:prstClr>
                </a:solidFill>
                <a:ln>
                  <a:solidFill>
                    <a:prstClr val="black">
                      <a:lumMod val="25000"/>
                      <a:lumOff val="75000"/>
                      <a:alpha val="0"/>
                    </a:prstClr>
                  </a:solidFill>
                </a:ln>
                <a:effectLst/>
              </c:spPr>
              <c:txPr>
                <a:bodyPr rot="0" spcFirstLastPara="1" vertOverflow="clip" horzOverflow="clip" vert="horz" wrap="square" lIns="38100" tIns="19050" rIns="38100" bIns="19050" anchor="ctr" anchorCtr="1">
                  <a:no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3849475065616795"/>
                      <c:h val="0.23317188596252952"/>
                    </c:manualLayout>
                  </c15:layout>
                  <c15:dlblFieldTable/>
                  <c15:showDataLabelsRange val="0"/>
                </c:ext>
                <c:ext xmlns:c16="http://schemas.microsoft.com/office/drawing/2014/chart" uri="{C3380CC4-5D6E-409C-BE32-E72D297353CC}">
                  <c16:uniqueId val="{00000005-37CE-4F16-B148-FFA0DE0AFCC8}"/>
                </c:ext>
              </c:extLst>
            </c:dLbl>
            <c:spPr>
              <a:solidFill>
                <a:prstClr val="white">
                  <a:alpha val="0"/>
                </a:prstClr>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Sheet1!$A$4:$A$7</c:f>
              <c:strCache>
                <c:ptCount val="3"/>
                <c:pt idx="0">
                  <c:v>Both equally</c:v>
                </c:pt>
                <c:pt idx="1">
                  <c:v>Online</c:v>
                </c:pt>
                <c:pt idx="2">
                  <c:v>Real-life</c:v>
                </c:pt>
              </c:strCache>
            </c:strRef>
          </c:cat>
          <c:val>
            <c:numRef>
              <c:f>Sheet1!$B$4:$B$7</c:f>
              <c:numCache>
                <c:formatCode>General</c:formatCode>
                <c:ptCount val="3"/>
                <c:pt idx="0">
                  <c:v>101</c:v>
                </c:pt>
                <c:pt idx="1">
                  <c:v>19</c:v>
                </c:pt>
                <c:pt idx="2">
                  <c:v>69</c:v>
                </c:pt>
              </c:numCache>
            </c:numRef>
          </c:val>
          <c:extLst>
            <c:ext xmlns:c16="http://schemas.microsoft.com/office/drawing/2014/chart" uri="{C3380CC4-5D6E-409C-BE32-E72D297353CC}">
              <c16:uniqueId val="{00000006-37CE-4F16-B148-FFA0DE0AFCC8}"/>
            </c:ext>
          </c:extLst>
        </c:ser>
        <c:dLbls>
          <c:dLblPos val="outEnd"/>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withinLinear" id="18">
  <a:schemeClr val="accent5"/>
</cs:colorStyle>
</file>

<file path=ppt/charts/colors4.xml><?xml version="1.0" encoding="utf-8"?>
<cs:colorStyle xmlns:cs="http://schemas.microsoft.com/office/drawing/2012/chartStyle" xmlns:a="http://schemas.openxmlformats.org/drawingml/2006/main" meth="withinLinear" id="18">
  <a:schemeClr val="accent5"/>
</cs:colorStyle>
</file>

<file path=ppt/charts/colors5.xml><?xml version="1.0" encoding="utf-8"?>
<cs:colorStyle xmlns:cs="http://schemas.microsoft.com/office/drawing/2012/chartStyle" xmlns:a="http://schemas.openxmlformats.org/drawingml/2006/main" meth="withinLinear" id="18">
  <a:schemeClr val="accent5"/>
</cs:colorStyle>
</file>

<file path=ppt/charts/colors6.xml><?xml version="1.0" encoding="utf-8"?>
<cs:colorStyle xmlns:cs="http://schemas.microsoft.com/office/drawing/2012/chartStyle" xmlns:a="http://schemas.openxmlformats.org/drawingml/2006/main" meth="withinLinear" id="18">
  <a:schemeClr val="accent5"/>
</cs:colorStyle>
</file>

<file path=ppt/charts/colors7.xml><?xml version="1.0" encoding="utf-8"?>
<cs:colorStyle xmlns:cs="http://schemas.microsoft.com/office/drawing/2012/chartStyle" xmlns:a="http://schemas.openxmlformats.org/drawingml/2006/main" meth="withinLinear" id="18">
  <a:schemeClr val="accent5"/>
</cs:colorStyle>
</file>

<file path=ppt/charts/colors8.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rawings/drawing1.xml><?xml version="1.0" encoding="utf-8"?>
<c:userShapes xmlns:c="http://schemas.openxmlformats.org/drawingml/2006/chart">
  <cdr:relSizeAnchor xmlns:cdr="http://schemas.openxmlformats.org/drawingml/2006/chartDrawing">
    <cdr:from>
      <cdr:x>0.4</cdr:x>
      <cdr:y>0.35548</cdr:y>
    </cdr:from>
    <cdr:to>
      <cdr:x>0.6</cdr:x>
      <cdr:y>0.64452</cdr:y>
    </cdr:to>
    <cdr:sp macro="" textlink="">
      <cdr:nvSpPr>
        <cdr:cNvPr id="2" name="TextBox 1">
          <a:extLst xmlns:a="http://schemas.openxmlformats.org/drawingml/2006/main">
            <a:ext uri="{FF2B5EF4-FFF2-40B4-BE49-F238E27FC236}">
              <a16:creationId xmlns:a16="http://schemas.microsoft.com/office/drawing/2014/main" id="{2EBDBCB8-1DA2-F52C-AFBB-E17D883DB5D9}"/>
            </a:ext>
          </a:extLst>
        </cdr:cNvPr>
        <cdr:cNvSpPr txBox="1"/>
      </cdr:nvSpPr>
      <cdr:spPr>
        <a:xfrm xmlns:a="http://schemas.openxmlformats.org/drawingml/2006/main">
          <a:off x="1828800" y="1124564"/>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0.5</cdr:x>
      <cdr:y>0.5</cdr:y>
    </cdr:from>
    <cdr:to>
      <cdr:x>0.7</cdr:x>
      <cdr:y>0.78904</cdr:y>
    </cdr:to>
    <cdr:sp macro="" textlink="">
      <cdr:nvSpPr>
        <cdr:cNvPr id="3" name="TextBox 2">
          <a:extLst xmlns:a="http://schemas.openxmlformats.org/drawingml/2006/main">
            <a:ext uri="{FF2B5EF4-FFF2-40B4-BE49-F238E27FC236}">
              <a16:creationId xmlns:a16="http://schemas.microsoft.com/office/drawing/2014/main" id="{A0592BAC-5C74-F4F4-8772-AFF6360071A9}"/>
            </a:ext>
          </a:extLst>
        </cdr:cNvPr>
        <cdr:cNvSpPr txBox="1"/>
      </cdr:nvSpPr>
      <cdr:spPr>
        <a:xfrm xmlns:a="http://schemas.openxmlformats.org/drawingml/2006/main">
          <a:off x="2286000" y="1581764"/>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cdr:x>
      <cdr:y>0.35548</cdr:y>
    </cdr:from>
    <cdr:to>
      <cdr:x>0.6</cdr:x>
      <cdr:y>0.64452</cdr:y>
    </cdr:to>
    <cdr:sp macro="" textlink="">
      <cdr:nvSpPr>
        <cdr:cNvPr id="4" name="TextBox 3">
          <a:extLst xmlns:a="http://schemas.openxmlformats.org/drawingml/2006/main">
            <a:ext uri="{FF2B5EF4-FFF2-40B4-BE49-F238E27FC236}">
              <a16:creationId xmlns:a16="http://schemas.microsoft.com/office/drawing/2014/main" id="{17534F41-77C2-B9AA-1339-8D404E4BEEEF}"/>
            </a:ext>
          </a:extLst>
        </cdr:cNvPr>
        <cdr:cNvSpPr txBox="1"/>
      </cdr:nvSpPr>
      <cdr:spPr>
        <a:xfrm xmlns:a="http://schemas.openxmlformats.org/drawingml/2006/main">
          <a:off x="1828800" y="1124564"/>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userShapes>
</file>

<file path=ppt/drawings/drawing2.xml><?xml version="1.0" encoding="utf-8"?>
<c:userShapes xmlns:c="http://schemas.openxmlformats.org/drawingml/2006/chart">
  <cdr:relSizeAnchor xmlns:cdr="http://schemas.openxmlformats.org/drawingml/2006/chartDrawing">
    <cdr:from>
      <cdr:x>0.18885</cdr:x>
      <cdr:y>0.30597</cdr:y>
    </cdr:from>
    <cdr:to>
      <cdr:x>1</cdr:x>
      <cdr:y>1</cdr:y>
    </cdr:to>
    <cdr:sp macro="" textlink="">
      <cdr:nvSpPr>
        <cdr:cNvPr id="2" name="TextBox 1">
          <a:extLst xmlns:a="http://schemas.openxmlformats.org/drawingml/2006/main">
            <a:ext uri="{FF2B5EF4-FFF2-40B4-BE49-F238E27FC236}">
              <a16:creationId xmlns:a16="http://schemas.microsoft.com/office/drawing/2014/main" id="{676046A1-C856-9C62-C996-5FA04670F316}"/>
            </a:ext>
          </a:extLst>
        </cdr:cNvPr>
        <cdr:cNvSpPr txBox="1"/>
      </cdr:nvSpPr>
      <cdr:spPr>
        <a:xfrm xmlns:a="http://schemas.openxmlformats.org/drawingml/2006/main">
          <a:off x="980394" y="720967"/>
          <a:ext cx="4210915" cy="163537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400" kern="1200" dirty="0">
            <a:latin typeface="Times New Roman" panose="02020603050405020304" pitchFamily="18" charset="0"/>
            <a:cs typeface="Times New Roman" panose="02020603050405020304" pitchFamily="18" charset="0"/>
          </a:endParaRPr>
        </a:p>
      </cdr:txBody>
    </cdr:sp>
  </cdr:relSizeAnchor>
  <cdr:relSizeAnchor xmlns:cdr="http://schemas.openxmlformats.org/drawingml/2006/chartDrawing">
    <cdr:from>
      <cdr:x>0.59759</cdr:x>
      <cdr:y>0.51244</cdr:y>
    </cdr:from>
    <cdr:to>
      <cdr:x>0.77373</cdr:x>
      <cdr:y>0.9005</cdr:y>
    </cdr:to>
    <cdr:sp macro="" textlink="">
      <cdr:nvSpPr>
        <cdr:cNvPr id="3" name="TextBox 2">
          <a:extLst xmlns:a="http://schemas.openxmlformats.org/drawingml/2006/main">
            <a:ext uri="{FF2B5EF4-FFF2-40B4-BE49-F238E27FC236}">
              <a16:creationId xmlns:a16="http://schemas.microsoft.com/office/drawing/2014/main" id="{960B83B2-0379-3F09-058C-DC32B8A23E54}"/>
            </a:ext>
          </a:extLst>
        </cdr:cNvPr>
        <cdr:cNvSpPr txBox="1"/>
      </cdr:nvSpPr>
      <cdr:spPr>
        <a:xfrm xmlns:a="http://schemas.openxmlformats.org/drawingml/2006/main">
          <a:off x="3102271" y="1207476"/>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userShapes>
</file>

<file path=ppt/drawings/drawing3.xml><?xml version="1.0" encoding="utf-8"?>
<c:userShapes xmlns:c="http://schemas.openxmlformats.org/drawingml/2006/chart">
  <cdr:relSizeAnchor xmlns:cdr="http://schemas.openxmlformats.org/drawingml/2006/chartDrawing">
    <cdr:from>
      <cdr:x>0.4018</cdr:x>
      <cdr:y>0.29657</cdr:y>
    </cdr:from>
    <cdr:to>
      <cdr:x>0.5982</cdr:x>
      <cdr:y>0.70343</cdr:y>
    </cdr:to>
    <cdr:sp macro="" textlink="">
      <cdr:nvSpPr>
        <cdr:cNvPr id="2" name="TextBox 1">
          <a:extLst xmlns:a="http://schemas.openxmlformats.org/drawingml/2006/main">
            <a:ext uri="{FF2B5EF4-FFF2-40B4-BE49-F238E27FC236}">
              <a16:creationId xmlns:a16="http://schemas.microsoft.com/office/drawing/2014/main" id="{2589BE22-92EB-CC4A-D4D2-86D7F60BC7BE}"/>
            </a:ext>
          </a:extLst>
        </cdr:cNvPr>
        <cdr:cNvSpPr txBox="1"/>
      </cdr:nvSpPr>
      <cdr:spPr>
        <a:xfrm xmlns:a="http://schemas.openxmlformats.org/drawingml/2006/main">
          <a:off x="1870587" y="666513"/>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0.19787</cdr:x>
      <cdr:y>0.45905</cdr:y>
    </cdr:from>
    <cdr:to>
      <cdr:x>0.91458</cdr:x>
      <cdr:y>0.86592</cdr:y>
    </cdr:to>
    <cdr:sp macro="" textlink="">
      <cdr:nvSpPr>
        <cdr:cNvPr id="3" name="TextBox 2">
          <a:extLst xmlns:a="http://schemas.openxmlformats.org/drawingml/2006/main">
            <a:ext uri="{FF2B5EF4-FFF2-40B4-BE49-F238E27FC236}">
              <a16:creationId xmlns:a16="http://schemas.microsoft.com/office/drawing/2014/main" id="{B802E382-EACF-BD94-D0BA-ECB0535E3A24}"/>
            </a:ext>
          </a:extLst>
        </cdr:cNvPr>
        <cdr:cNvSpPr txBox="1"/>
      </cdr:nvSpPr>
      <cdr:spPr>
        <a:xfrm xmlns:a="http://schemas.openxmlformats.org/drawingml/2006/main">
          <a:off x="921186" y="1031685"/>
          <a:ext cx="3336731"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0.4018</cdr:x>
      <cdr:y>0.29657</cdr:y>
    </cdr:from>
    <cdr:to>
      <cdr:x>0.5982</cdr:x>
      <cdr:y>0.70343</cdr:y>
    </cdr:to>
    <cdr:sp macro="" textlink="">
      <cdr:nvSpPr>
        <cdr:cNvPr id="4" name="TextBox 3">
          <a:extLst xmlns:a="http://schemas.openxmlformats.org/drawingml/2006/main">
            <a:ext uri="{FF2B5EF4-FFF2-40B4-BE49-F238E27FC236}">
              <a16:creationId xmlns:a16="http://schemas.microsoft.com/office/drawing/2014/main" id="{9F78E546-E879-6B26-1449-97F2414104F6}"/>
            </a:ext>
          </a:extLst>
        </cdr:cNvPr>
        <cdr:cNvSpPr txBox="1"/>
      </cdr:nvSpPr>
      <cdr:spPr>
        <a:xfrm xmlns:a="http://schemas.openxmlformats.org/drawingml/2006/main">
          <a:off x="1870587" y="666513"/>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cdr:x>
      <cdr:y>0.59313</cdr:y>
    </cdr:from>
    <cdr:to>
      <cdr:x>0.19641</cdr:x>
      <cdr:y>1</cdr:y>
    </cdr:to>
    <cdr:sp macro="" textlink="">
      <cdr:nvSpPr>
        <cdr:cNvPr id="5" name="TextBox 4">
          <a:extLst xmlns:a="http://schemas.openxmlformats.org/drawingml/2006/main">
            <a:ext uri="{FF2B5EF4-FFF2-40B4-BE49-F238E27FC236}">
              <a16:creationId xmlns:a16="http://schemas.microsoft.com/office/drawing/2014/main" id="{A092D324-A1B3-891B-E66F-07D219AE1FD8}"/>
            </a:ext>
          </a:extLst>
        </cdr:cNvPr>
        <cdr:cNvSpPr txBox="1"/>
      </cdr:nvSpPr>
      <cdr:spPr>
        <a:xfrm xmlns:a="http://schemas.openxmlformats.org/drawingml/2006/main">
          <a:off x="-7132568" y="1333027"/>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userShapes>
</file>

<file path=ppt/drawings/drawing4.xml><?xml version="1.0" encoding="utf-8"?>
<c:userShapes xmlns:c="http://schemas.openxmlformats.org/drawingml/2006/chart">
  <cdr:relSizeAnchor xmlns:cdr="http://schemas.openxmlformats.org/drawingml/2006/chartDrawing">
    <cdr:from>
      <cdr:x>0.40464</cdr:x>
      <cdr:y>0.34567</cdr:y>
    </cdr:from>
    <cdr:to>
      <cdr:x>0.59536</cdr:x>
      <cdr:y>0.65433</cdr:y>
    </cdr:to>
    <cdr:sp macro="" textlink="">
      <cdr:nvSpPr>
        <cdr:cNvPr id="2" name="TextBox 1">
          <a:extLst xmlns:a="http://schemas.openxmlformats.org/drawingml/2006/main">
            <a:ext uri="{FF2B5EF4-FFF2-40B4-BE49-F238E27FC236}">
              <a16:creationId xmlns:a16="http://schemas.microsoft.com/office/drawing/2014/main" id="{CE95BC3A-3096-CF1E-9FF3-B267DB2D1BAC}"/>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0.69135</cdr:y>
    </cdr:from>
    <cdr:to>
      <cdr:x>0.59536</cdr:x>
      <cdr:y>1</cdr:y>
    </cdr:to>
    <cdr:sp macro="" textlink="">
      <cdr:nvSpPr>
        <cdr:cNvPr id="3" name="TextBox 2">
          <a:extLst xmlns:a="http://schemas.openxmlformats.org/drawingml/2006/main">
            <a:ext uri="{FF2B5EF4-FFF2-40B4-BE49-F238E27FC236}">
              <a16:creationId xmlns:a16="http://schemas.microsoft.com/office/drawing/2014/main" id="{A23CD546-0BDD-1D44-2973-45C17AE4508D}"/>
            </a:ext>
          </a:extLst>
        </cdr:cNvPr>
        <cdr:cNvSpPr txBox="1"/>
      </cdr:nvSpPr>
      <cdr:spPr>
        <a:xfrm xmlns:a="http://schemas.openxmlformats.org/drawingml/2006/main">
          <a:off x="1939991" y="2048136"/>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0.60396</cdr:x>
      <cdr:y>0.66365</cdr:y>
    </cdr:from>
    <cdr:to>
      <cdr:x>0.79468</cdr:x>
      <cdr:y>0.9723</cdr:y>
    </cdr:to>
    <cdr:sp macro="" textlink="">
      <cdr:nvSpPr>
        <cdr:cNvPr id="5" name="TextBox 4">
          <a:extLst xmlns:a="http://schemas.openxmlformats.org/drawingml/2006/main">
            <a:ext uri="{FF2B5EF4-FFF2-40B4-BE49-F238E27FC236}">
              <a16:creationId xmlns:a16="http://schemas.microsoft.com/office/drawing/2014/main" id="{317CFF4B-E286-F5DE-2B8C-656C30BF610C}"/>
            </a:ext>
          </a:extLst>
        </cdr:cNvPr>
        <cdr:cNvSpPr txBox="1"/>
      </cdr:nvSpPr>
      <cdr:spPr>
        <a:xfrm xmlns:a="http://schemas.openxmlformats.org/drawingml/2006/main">
          <a:off x="2895600" y="1966074"/>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0.08558</cdr:x>
      <cdr:y>0.67667</cdr:y>
    </cdr:from>
    <cdr:to>
      <cdr:x>0.86804</cdr:x>
      <cdr:y>1</cdr:y>
    </cdr:to>
    <cdr:sp macro="" textlink="">
      <cdr:nvSpPr>
        <cdr:cNvPr id="7" name="TextBox 6">
          <a:extLst xmlns:a="http://schemas.openxmlformats.org/drawingml/2006/main">
            <a:ext uri="{FF2B5EF4-FFF2-40B4-BE49-F238E27FC236}">
              <a16:creationId xmlns:a16="http://schemas.microsoft.com/office/drawing/2014/main" id="{80D7E8A1-2704-34D5-1A7D-F35E367E7D66}"/>
            </a:ext>
          </a:extLst>
        </cdr:cNvPr>
        <cdr:cNvSpPr txBox="1"/>
      </cdr:nvSpPr>
      <cdr:spPr>
        <a:xfrm xmlns:a="http://schemas.openxmlformats.org/drawingml/2006/main" flipH="1">
          <a:off x="410308" y="2004646"/>
          <a:ext cx="3751384" cy="95789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0.34595</cdr:x>
      <cdr:y>0.69135</cdr:y>
    </cdr:from>
    <cdr:to>
      <cdr:x>0.53668</cdr:x>
      <cdr:y>1</cdr:y>
    </cdr:to>
    <cdr:sp macro="" textlink="">
      <cdr:nvSpPr>
        <cdr:cNvPr id="8" name="TextBox 7">
          <a:extLst xmlns:a="http://schemas.openxmlformats.org/drawingml/2006/main">
            <a:ext uri="{FF2B5EF4-FFF2-40B4-BE49-F238E27FC236}">
              <a16:creationId xmlns:a16="http://schemas.microsoft.com/office/drawing/2014/main" id="{62724589-5392-A80A-6DB3-D1146240EF48}"/>
            </a:ext>
          </a:extLst>
        </cdr:cNvPr>
        <cdr:cNvSpPr txBox="1"/>
      </cdr:nvSpPr>
      <cdr:spPr>
        <a:xfrm xmlns:a="http://schemas.openxmlformats.org/drawingml/2006/main">
          <a:off x="1658638" y="2048136"/>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9" name="TextBox 8">
          <a:extLst xmlns:a="http://schemas.openxmlformats.org/drawingml/2006/main">
            <a:ext uri="{FF2B5EF4-FFF2-40B4-BE49-F238E27FC236}">
              <a16:creationId xmlns:a16="http://schemas.microsoft.com/office/drawing/2014/main" id="{C8F3BA29-C7B2-142E-1B37-C3D9BC548921}"/>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0" name="TextBox 9">
          <a:extLst xmlns:a="http://schemas.openxmlformats.org/drawingml/2006/main">
            <a:ext uri="{FF2B5EF4-FFF2-40B4-BE49-F238E27FC236}">
              <a16:creationId xmlns:a16="http://schemas.microsoft.com/office/drawing/2014/main" id="{50A1B981-0385-809F-BC3D-5364682A2D0F}"/>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1" name="TextBox 10">
          <a:extLst xmlns:a="http://schemas.openxmlformats.org/drawingml/2006/main">
            <a:ext uri="{FF2B5EF4-FFF2-40B4-BE49-F238E27FC236}">
              <a16:creationId xmlns:a16="http://schemas.microsoft.com/office/drawing/2014/main" id="{DEECAAED-DC1B-0891-7E51-043720B3B85A}"/>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2" name="TextBox 11">
          <a:extLst xmlns:a="http://schemas.openxmlformats.org/drawingml/2006/main">
            <a:ext uri="{FF2B5EF4-FFF2-40B4-BE49-F238E27FC236}">
              <a16:creationId xmlns:a16="http://schemas.microsoft.com/office/drawing/2014/main" id="{FDD44ED1-69A4-57C7-C419-7A22FD870F30}"/>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3" name="TextBox 12">
          <a:extLst xmlns:a="http://schemas.openxmlformats.org/drawingml/2006/main">
            <a:ext uri="{FF2B5EF4-FFF2-40B4-BE49-F238E27FC236}">
              <a16:creationId xmlns:a16="http://schemas.microsoft.com/office/drawing/2014/main" id="{2F3CD7EE-ABB3-1508-FAF1-112ADC37724B}"/>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4" name="TextBox 13">
          <a:extLst xmlns:a="http://schemas.openxmlformats.org/drawingml/2006/main">
            <a:ext uri="{FF2B5EF4-FFF2-40B4-BE49-F238E27FC236}">
              <a16:creationId xmlns:a16="http://schemas.microsoft.com/office/drawing/2014/main" id="{49FA57F6-3480-AEEB-CF00-9B80BC3A41A2}"/>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5" name="TextBox 14">
          <a:extLst xmlns:a="http://schemas.openxmlformats.org/drawingml/2006/main">
            <a:ext uri="{FF2B5EF4-FFF2-40B4-BE49-F238E27FC236}">
              <a16:creationId xmlns:a16="http://schemas.microsoft.com/office/drawing/2014/main" id="{3FE6B18D-9134-7B0D-42CD-D0B8671B5F24}"/>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6" name="TextBox 15">
          <a:extLst xmlns:a="http://schemas.openxmlformats.org/drawingml/2006/main">
            <a:ext uri="{FF2B5EF4-FFF2-40B4-BE49-F238E27FC236}">
              <a16:creationId xmlns:a16="http://schemas.microsoft.com/office/drawing/2014/main" id="{96322821-A71D-3CCE-61E6-984526770E3A}"/>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7" name="TextBox 16">
          <a:extLst xmlns:a="http://schemas.openxmlformats.org/drawingml/2006/main">
            <a:ext uri="{FF2B5EF4-FFF2-40B4-BE49-F238E27FC236}">
              <a16:creationId xmlns:a16="http://schemas.microsoft.com/office/drawing/2014/main" id="{630ACA60-CDAA-45E6-6741-C775B92AA74D}"/>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8" name="TextBox 17">
          <a:extLst xmlns:a="http://schemas.openxmlformats.org/drawingml/2006/main">
            <a:ext uri="{FF2B5EF4-FFF2-40B4-BE49-F238E27FC236}">
              <a16:creationId xmlns:a16="http://schemas.microsoft.com/office/drawing/2014/main" id="{395C80B8-5F63-53A9-675D-14E90684ADFE}"/>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19" name="TextBox 18">
          <a:extLst xmlns:a="http://schemas.openxmlformats.org/drawingml/2006/main">
            <a:ext uri="{FF2B5EF4-FFF2-40B4-BE49-F238E27FC236}">
              <a16:creationId xmlns:a16="http://schemas.microsoft.com/office/drawing/2014/main" id="{AF0B5A2D-3789-0B84-CA4F-861CE7E8317C}"/>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0" name="TextBox 19">
          <a:extLst xmlns:a="http://schemas.openxmlformats.org/drawingml/2006/main">
            <a:ext uri="{FF2B5EF4-FFF2-40B4-BE49-F238E27FC236}">
              <a16:creationId xmlns:a16="http://schemas.microsoft.com/office/drawing/2014/main" id="{686A2F11-F453-E07E-9A91-6E7E7F67FEB6}"/>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1" name="TextBox 20">
          <a:extLst xmlns:a="http://schemas.openxmlformats.org/drawingml/2006/main">
            <a:ext uri="{FF2B5EF4-FFF2-40B4-BE49-F238E27FC236}">
              <a16:creationId xmlns:a16="http://schemas.microsoft.com/office/drawing/2014/main" id="{36F122B3-CC8C-9DE2-19FB-E51B15F8D48E}"/>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2" name="TextBox 21">
          <a:extLst xmlns:a="http://schemas.openxmlformats.org/drawingml/2006/main">
            <a:ext uri="{FF2B5EF4-FFF2-40B4-BE49-F238E27FC236}">
              <a16:creationId xmlns:a16="http://schemas.microsoft.com/office/drawing/2014/main" id="{71511718-E5DF-9A33-A5B4-6EEDB98046DA}"/>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3" name="TextBox 22">
          <a:extLst xmlns:a="http://schemas.openxmlformats.org/drawingml/2006/main">
            <a:ext uri="{FF2B5EF4-FFF2-40B4-BE49-F238E27FC236}">
              <a16:creationId xmlns:a16="http://schemas.microsoft.com/office/drawing/2014/main" id="{0C88F391-05D5-3DE2-2E63-15F8D377E8A0}"/>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4" name="TextBox 23">
          <a:extLst xmlns:a="http://schemas.openxmlformats.org/drawingml/2006/main">
            <a:ext uri="{FF2B5EF4-FFF2-40B4-BE49-F238E27FC236}">
              <a16:creationId xmlns:a16="http://schemas.microsoft.com/office/drawing/2014/main" id="{5287C2A4-2C26-B506-A018-C89489EDC822}"/>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5" name="TextBox 24">
          <a:extLst xmlns:a="http://schemas.openxmlformats.org/drawingml/2006/main">
            <a:ext uri="{FF2B5EF4-FFF2-40B4-BE49-F238E27FC236}">
              <a16:creationId xmlns:a16="http://schemas.microsoft.com/office/drawing/2014/main" id="{AFB5D5C8-A653-2128-6517-5DA9D1B8D5BA}"/>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6" name="TextBox 25">
          <a:extLst xmlns:a="http://schemas.openxmlformats.org/drawingml/2006/main">
            <a:ext uri="{FF2B5EF4-FFF2-40B4-BE49-F238E27FC236}">
              <a16:creationId xmlns:a16="http://schemas.microsoft.com/office/drawing/2014/main" id="{BCAA2C8E-2393-5B3E-C9DA-C77837697B28}"/>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7" name="TextBox 26">
          <a:extLst xmlns:a="http://schemas.openxmlformats.org/drawingml/2006/main">
            <a:ext uri="{FF2B5EF4-FFF2-40B4-BE49-F238E27FC236}">
              <a16:creationId xmlns:a16="http://schemas.microsoft.com/office/drawing/2014/main" id="{6EEA3504-26B7-00ED-7E3F-3567FD266D7C}"/>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8" name="TextBox 27">
          <a:extLst xmlns:a="http://schemas.openxmlformats.org/drawingml/2006/main">
            <a:ext uri="{FF2B5EF4-FFF2-40B4-BE49-F238E27FC236}">
              <a16:creationId xmlns:a16="http://schemas.microsoft.com/office/drawing/2014/main" id="{6F42495E-2213-21DD-5376-C1E57D649B42}"/>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29" name="TextBox 28">
          <a:extLst xmlns:a="http://schemas.openxmlformats.org/drawingml/2006/main">
            <a:ext uri="{FF2B5EF4-FFF2-40B4-BE49-F238E27FC236}">
              <a16:creationId xmlns:a16="http://schemas.microsoft.com/office/drawing/2014/main" id="{773514B2-A1B9-6ACA-1480-7B00C8F0B104}"/>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dr:relSizeAnchor xmlns:cdr="http://schemas.openxmlformats.org/drawingml/2006/chartDrawing">
    <cdr:from>
      <cdr:x>0.40464</cdr:x>
      <cdr:y>0.34567</cdr:y>
    </cdr:from>
    <cdr:to>
      <cdr:x>0.59536</cdr:x>
      <cdr:y>0.65433</cdr:y>
    </cdr:to>
    <cdr:sp macro="" textlink="">
      <cdr:nvSpPr>
        <cdr:cNvPr id="30" name="TextBox 29">
          <a:extLst xmlns:a="http://schemas.openxmlformats.org/drawingml/2006/main">
            <a:ext uri="{FF2B5EF4-FFF2-40B4-BE49-F238E27FC236}">
              <a16:creationId xmlns:a16="http://schemas.microsoft.com/office/drawing/2014/main" id="{1CBABF25-4CEC-CB16-755F-58CC97F6580B}"/>
            </a:ext>
          </a:extLst>
        </cdr:cNvPr>
        <cdr:cNvSpPr txBox="1"/>
      </cdr:nvSpPr>
      <cdr:spPr>
        <a:xfrm xmlns:a="http://schemas.openxmlformats.org/drawingml/2006/main">
          <a:off x="1939991" y="1024068"/>
          <a:ext cx="914400" cy="9144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F25DFE-6EC6-4F58-8203-173854952949}" type="datetimeFigureOut">
              <a:rPr lang="en-US" smtClean="0"/>
              <a:t>11/20/2025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59A74D-EE7E-4552-83F4-AB0D9AA3E1AF}" type="slidenum">
              <a:rPr lang="en-US" smtClean="0"/>
              <a:t>‹#›</a:t>
            </a:fld>
            <a:endParaRPr lang="en-US" dirty="0"/>
          </a:p>
        </p:txBody>
      </p:sp>
    </p:spTree>
    <p:extLst>
      <p:ext uri="{BB962C8B-B14F-4D97-AF65-F5344CB8AC3E}">
        <p14:creationId xmlns:p14="http://schemas.microsoft.com/office/powerpoint/2010/main" val="749508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59A74D-EE7E-4552-83F4-AB0D9AA3E1AF}" type="slidenum">
              <a:rPr lang="en-US" smtClean="0"/>
              <a:t>6</a:t>
            </a:fld>
            <a:endParaRPr lang="en-US" dirty="0"/>
          </a:p>
        </p:txBody>
      </p:sp>
    </p:spTree>
    <p:extLst>
      <p:ext uri="{BB962C8B-B14F-4D97-AF65-F5344CB8AC3E}">
        <p14:creationId xmlns:p14="http://schemas.microsoft.com/office/powerpoint/2010/main" val="2932208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59A74D-EE7E-4552-83F4-AB0D9AA3E1AF}" type="slidenum">
              <a:rPr lang="en-US" smtClean="0"/>
              <a:t>7</a:t>
            </a:fld>
            <a:endParaRPr lang="en-US" dirty="0"/>
          </a:p>
        </p:txBody>
      </p:sp>
    </p:spTree>
    <p:extLst>
      <p:ext uri="{BB962C8B-B14F-4D97-AF65-F5344CB8AC3E}">
        <p14:creationId xmlns:p14="http://schemas.microsoft.com/office/powerpoint/2010/main" val="20711086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3ED7B10-0978-461F-9CAE-05C20A72668F}" type="datetimeFigureOut">
              <a:rPr lang="en-US" smtClean="0"/>
              <a:t>11/20/2025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2320286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4214564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3263271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1864360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55527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2207968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4151816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3644323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2919245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1762758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1751097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0CA861-B5DF-4084-9FB5-FE12682CE4F7}"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83043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173911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3498338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2531817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544980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ED7B10-0978-461F-9CAE-05C20A72668F}" type="datetimeFigureOut">
              <a:rPr lang="en-US" smtClean="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20CA861-B5DF-4084-9FB5-FE12682CE4F7}" type="slidenum">
              <a:rPr lang="en-US" smtClean="0"/>
              <a:t>‹#›</a:t>
            </a:fld>
            <a:endParaRPr lang="en-US" dirty="0"/>
          </a:p>
        </p:txBody>
      </p:sp>
    </p:spTree>
    <p:extLst>
      <p:ext uri="{BB962C8B-B14F-4D97-AF65-F5344CB8AC3E}">
        <p14:creationId xmlns:p14="http://schemas.microsoft.com/office/powerpoint/2010/main" val="603513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6000">
              <a:schemeClr val="bg2">
                <a:lumMod val="50000"/>
              </a:schemeClr>
            </a:gs>
            <a:gs pos="100000">
              <a:schemeClr val="bg1">
                <a:lumMod val="50000"/>
                <a:lumOff val="50000"/>
              </a:schemeClr>
            </a:gs>
          </a:gsLst>
          <a:lin ang="6120000" scaled="1"/>
          <a:tileRect/>
        </a:gra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3ED7B10-0978-461F-9CAE-05C20A72668F}" type="datetimeFigureOut">
              <a:rPr lang="en-US" smtClean="0"/>
              <a:t>11/20/2025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20CA861-B5DF-4084-9FB5-FE12682CE4F7}" type="slidenum">
              <a:rPr lang="en-US" smtClean="0"/>
              <a:t>‹#›</a:t>
            </a:fld>
            <a:endParaRPr lang="en-US" dirty="0"/>
          </a:p>
        </p:txBody>
      </p:sp>
    </p:spTree>
    <p:extLst>
      <p:ext uri="{BB962C8B-B14F-4D97-AF65-F5344CB8AC3E}">
        <p14:creationId xmlns:p14="http://schemas.microsoft.com/office/powerpoint/2010/main" val="2881449735"/>
      </p:ext>
    </p:extLst>
  </p:cSld>
  <p:clrMap bg1="dk1" tx1="lt1" bg2="dk2" tx2="lt2" accent1="accent1" accent2="accent2" accent3="accent3" accent4="accent4" accent5="accent5" accent6="accent6" hlink="hlink" folHlink="folHlink"/>
  <p:sldLayoutIdLst>
    <p:sldLayoutId id="2147484773" r:id="rId1"/>
    <p:sldLayoutId id="2147484774" r:id="rId2"/>
    <p:sldLayoutId id="2147484775" r:id="rId3"/>
    <p:sldLayoutId id="2147484776" r:id="rId4"/>
    <p:sldLayoutId id="2147484777" r:id="rId5"/>
    <p:sldLayoutId id="2147484778" r:id="rId6"/>
    <p:sldLayoutId id="2147484779" r:id="rId7"/>
    <p:sldLayoutId id="2147484780" r:id="rId8"/>
    <p:sldLayoutId id="2147484781" r:id="rId9"/>
    <p:sldLayoutId id="2147484782" r:id="rId10"/>
    <p:sldLayoutId id="2147484783" r:id="rId11"/>
    <p:sldLayoutId id="2147484784" r:id="rId12"/>
    <p:sldLayoutId id="2147484785" r:id="rId13"/>
    <p:sldLayoutId id="2147484786" r:id="rId14"/>
    <p:sldLayoutId id="2147484787" r:id="rId15"/>
    <p:sldLayoutId id="2147484788" r:id="rId16"/>
    <p:sldLayoutId id="214748478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medhieval.com/classes/hh2019/labs/your-digital-identity/"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05D7E5-BFD8-297D-2BE6-4AB43609775D}"/>
              </a:ext>
            </a:extLst>
          </p:cNvPr>
          <p:cNvSpPr txBox="1"/>
          <p:nvPr/>
        </p:nvSpPr>
        <p:spPr>
          <a:xfrm>
            <a:off x="1747935" y="2428507"/>
            <a:ext cx="8696130" cy="1569660"/>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HOW REAL IS YOUR </a:t>
            </a:r>
          </a:p>
          <a:p>
            <a:pPr algn="ctr"/>
            <a:r>
              <a:rPr lang="en-US" sz="4800" b="1" dirty="0">
                <a:latin typeface="Times New Roman" panose="02020603050405020304" pitchFamily="18" charset="0"/>
                <a:cs typeface="Times New Roman" panose="02020603050405020304" pitchFamily="18" charset="0"/>
              </a:rPr>
              <a:t>ONLINE PERSONALITY?</a:t>
            </a:r>
          </a:p>
        </p:txBody>
      </p:sp>
      <p:sp>
        <p:nvSpPr>
          <p:cNvPr id="5" name="TextBox 4">
            <a:extLst>
              <a:ext uri="{FF2B5EF4-FFF2-40B4-BE49-F238E27FC236}">
                <a16:creationId xmlns:a16="http://schemas.microsoft.com/office/drawing/2014/main" id="{A9A8FECA-6762-E431-67EE-4DC111A1B356}"/>
              </a:ext>
            </a:extLst>
          </p:cNvPr>
          <p:cNvSpPr txBox="1"/>
          <p:nvPr/>
        </p:nvSpPr>
        <p:spPr>
          <a:xfrm>
            <a:off x="3198842" y="3998167"/>
            <a:ext cx="6746033" cy="461665"/>
          </a:xfrm>
          <a:prstGeom prst="rect">
            <a:avLst/>
          </a:prstGeom>
          <a:noFill/>
        </p:spPr>
        <p:txBody>
          <a:bodyPr wrap="square" rtlCol="0">
            <a:spAutoFit/>
          </a:bodyPr>
          <a:lstStyle/>
          <a:p>
            <a:r>
              <a:rPr lang="en-US" sz="2400" b="1" i="1" u="sng" dirty="0">
                <a:latin typeface="Times New Roman" panose="02020603050405020304" pitchFamily="18" charset="0"/>
                <a:cs typeface="Times New Roman" panose="02020603050405020304" pitchFamily="18" charset="0"/>
              </a:rPr>
              <a:t>An Analysis of Online vs Real life Personas</a:t>
            </a:r>
          </a:p>
        </p:txBody>
      </p:sp>
      <p:pic>
        <p:nvPicPr>
          <p:cNvPr id="2" name="Content Placeholder 10">
            <a:extLst>
              <a:ext uri="{FF2B5EF4-FFF2-40B4-BE49-F238E27FC236}">
                <a16:creationId xmlns:a16="http://schemas.microsoft.com/office/drawing/2014/main" id="{2B720CC9-11BE-FF22-AACB-14A420B9C89E}"/>
              </a:ext>
            </a:extLst>
          </p:cNvPr>
          <p:cNvPicPr>
            <a:picLocks noGrp="1"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839456" y="3767329"/>
            <a:ext cx="4468157" cy="3152124"/>
          </a:xfrm>
          <a:prstGeom prst="rect">
            <a:avLst/>
          </a:prstGeom>
          <a:noFill/>
          <a:ln>
            <a:solidFill>
              <a:schemeClr val="bg1">
                <a:alpha val="0"/>
              </a:schemeClr>
            </a:solidFill>
          </a:ln>
        </p:spPr>
      </p:pic>
    </p:spTree>
    <p:extLst>
      <p:ext uri="{BB962C8B-B14F-4D97-AF65-F5344CB8AC3E}">
        <p14:creationId xmlns:p14="http://schemas.microsoft.com/office/powerpoint/2010/main" val="299696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circle(in)">
                                      <p:cBhvr>
                                        <p:cTn id="10" dur="2000"/>
                                        <p:tgtEl>
                                          <p:spTgt spid="4">
                                            <p:txEl>
                                              <p:pRg st="1" end="1"/>
                                            </p:txEl>
                                          </p:spTgt>
                                        </p:tgtEl>
                                      </p:cBhvr>
                                    </p:animEffect>
                                  </p:childTnLst>
                                </p:cTn>
                              </p:par>
                            </p:childTnLst>
                          </p:cTn>
                        </p:par>
                        <p:par>
                          <p:cTn id="11" fill="hold">
                            <p:stCondLst>
                              <p:cond delay="2000"/>
                            </p:stCondLst>
                            <p:childTnLst>
                              <p:par>
                                <p:cTn id="12" presetID="10" presetClass="entr" presetSubtype="0" fill="hold" nodeType="after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500"/>
                                        <p:tgtEl>
                                          <p:spTgt spid="5">
                                            <p:txEl>
                                              <p:pRg st="0" end="0"/>
                                            </p:txEl>
                                          </p:spTgt>
                                        </p:tgtEl>
                                      </p:cBhvr>
                                    </p:animEffect>
                                  </p:childTnLst>
                                </p:cTn>
                              </p:par>
                              <p:par>
                                <p:cTn id="15" presetID="16" presetClass="entr" presetSubtype="21"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1EF529-1344-21D7-8F31-8582BBD2B330}"/>
              </a:ext>
            </a:extLst>
          </p:cNvPr>
          <p:cNvSpPr txBox="1"/>
          <p:nvPr/>
        </p:nvSpPr>
        <p:spPr>
          <a:xfrm>
            <a:off x="3222171" y="1640736"/>
            <a:ext cx="5747657" cy="707886"/>
          </a:xfrm>
          <a:prstGeom prst="rect">
            <a:avLst/>
          </a:prstGeom>
          <a:noFill/>
        </p:spPr>
        <p:txBody>
          <a:bodyPr wrap="square" rtlCol="0">
            <a:spAutoFit/>
          </a:bodyPr>
          <a:lstStyle/>
          <a:p>
            <a:pPr algn="ctr"/>
            <a:r>
              <a:rPr lang="en-US" sz="4000" b="1" u="sng" dirty="0">
                <a:latin typeface="Times New Roman" panose="02020603050405020304" pitchFamily="18" charset="0"/>
                <a:cs typeface="Times New Roman" panose="02020603050405020304" pitchFamily="18" charset="0"/>
              </a:rPr>
              <a:t>Group Members</a:t>
            </a:r>
          </a:p>
        </p:txBody>
      </p:sp>
      <p:sp>
        <p:nvSpPr>
          <p:cNvPr id="3" name="TextBox 2">
            <a:extLst>
              <a:ext uri="{FF2B5EF4-FFF2-40B4-BE49-F238E27FC236}">
                <a16:creationId xmlns:a16="http://schemas.microsoft.com/office/drawing/2014/main" id="{E900FC3B-48A0-51B2-C45D-D71CBA10564A}"/>
              </a:ext>
            </a:extLst>
          </p:cNvPr>
          <p:cNvSpPr txBox="1"/>
          <p:nvPr/>
        </p:nvSpPr>
        <p:spPr>
          <a:xfrm>
            <a:off x="2541738" y="2970495"/>
            <a:ext cx="3844212" cy="2246769"/>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Zaineb</a:t>
            </a:r>
          </a:p>
          <a:p>
            <a:pPr algn="ctr"/>
            <a:r>
              <a:rPr lang="en-US" sz="2800" b="1" dirty="0">
                <a:latin typeface="Times New Roman" panose="02020603050405020304" pitchFamily="18" charset="0"/>
                <a:cs typeface="Times New Roman" panose="02020603050405020304" pitchFamily="18" charset="0"/>
              </a:rPr>
              <a:t>Iqra Sarfraz</a:t>
            </a:r>
          </a:p>
          <a:p>
            <a:pPr algn="ctr"/>
            <a:r>
              <a:rPr lang="en-US" sz="2800" b="1" dirty="0">
                <a:latin typeface="Times New Roman" panose="02020603050405020304" pitchFamily="18" charset="0"/>
                <a:cs typeface="Times New Roman" panose="02020603050405020304" pitchFamily="18" charset="0"/>
              </a:rPr>
              <a:t>Yumna Bint E Akhtar</a:t>
            </a:r>
          </a:p>
          <a:p>
            <a:pPr algn="ctr"/>
            <a:r>
              <a:rPr lang="en-US" sz="2800" b="1" dirty="0">
                <a:latin typeface="Times New Roman" panose="02020603050405020304" pitchFamily="18" charset="0"/>
                <a:cs typeface="Times New Roman" panose="02020603050405020304" pitchFamily="18" charset="0"/>
              </a:rPr>
              <a:t>Meerab Usman</a:t>
            </a:r>
          </a:p>
          <a:p>
            <a:pPr algn="ctr"/>
            <a:r>
              <a:rPr lang="en-US" sz="2800" b="1" dirty="0">
                <a:latin typeface="Times New Roman" panose="02020603050405020304" pitchFamily="18" charset="0"/>
                <a:cs typeface="Times New Roman" panose="02020603050405020304" pitchFamily="18" charset="0"/>
              </a:rPr>
              <a:t>Ayesha Sarwar</a:t>
            </a:r>
          </a:p>
        </p:txBody>
      </p:sp>
      <p:sp>
        <p:nvSpPr>
          <p:cNvPr id="4" name="TextBox 3">
            <a:extLst>
              <a:ext uri="{FF2B5EF4-FFF2-40B4-BE49-F238E27FC236}">
                <a16:creationId xmlns:a16="http://schemas.microsoft.com/office/drawing/2014/main" id="{9D8EFC87-51C5-8F83-AC69-A34F8B1B45A3}"/>
              </a:ext>
            </a:extLst>
          </p:cNvPr>
          <p:cNvSpPr txBox="1"/>
          <p:nvPr/>
        </p:nvSpPr>
        <p:spPr>
          <a:xfrm>
            <a:off x="6951406" y="2970495"/>
            <a:ext cx="2349911" cy="2246769"/>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2025-CS-244</a:t>
            </a:r>
          </a:p>
          <a:p>
            <a:pPr algn="ctr"/>
            <a:r>
              <a:rPr lang="en-US" sz="2800" b="1" dirty="0">
                <a:latin typeface="Times New Roman" panose="02020603050405020304" pitchFamily="18" charset="0"/>
                <a:cs typeface="Times New Roman" panose="02020603050405020304" pitchFamily="18" charset="0"/>
              </a:rPr>
              <a:t>2025-CS-255</a:t>
            </a:r>
          </a:p>
          <a:p>
            <a:pPr algn="ctr"/>
            <a:r>
              <a:rPr lang="en-US" sz="2800" b="1" dirty="0">
                <a:latin typeface="Times New Roman" panose="02020603050405020304" pitchFamily="18" charset="0"/>
                <a:cs typeface="Times New Roman" panose="02020603050405020304" pitchFamily="18" charset="0"/>
              </a:rPr>
              <a:t>2025-CS-260</a:t>
            </a:r>
          </a:p>
          <a:p>
            <a:pPr algn="ctr"/>
            <a:r>
              <a:rPr lang="en-US" sz="2800" b="1" dirty="0">
                <a:latin typeface="Times New Roman" panose="02020603050405020304" pitchFamily="18" charset="0"/>
                <a:cs typeface="Times New Roman" panose="02020603050405020304" pitchFamily="18" charset="0"/>
              </a:rPr>
              <a:t>2025-CS-275</a:t>
            </a:r>
          </a:p>
          <a:p>
            <a:pPr algn="ctr"/>
            <a:r>
              <a:rPr lang="en-US" sz="2800" b="1" dirty="0">
                <a:latin typeface="Times New Roman" panose="02020603050405020304" pitchFamily="18" charset="0"/>
                <a:cs typeface="Times New Roman" panose="02020603050405020304" pitchFamily="18" charset="0"/>
              </a:rPr>
              <a:t>2025-CS-281</a:t>
            </a:r>
          </a:p>
        </p:txBody>
      </p:sp>
      <p:pic>
        <p:nvPicPr>
          <p:cNvPr id="6" name="Picture 5">
            <a:extLst>
              <a:ext uri="{FF2B5EF4-FFF2-40B4-BE49-F238E27FC236}">
                <a16:creationId xmlns:a16="http://schemas.microsoft.com/office/drawing/2014/main" id="{BA8C2F95-9E67-D1FB-32D9-BE8CEF31CFF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56076" y="1654337"/>
            <a:ext cx="562356" cy="707886"/>
          </a:xfrm>
          <a:prstGeom prst="rect">
            <a:avLst/>
          </a:prstGeom>
        </p:spPr>
      </p:pic>
    </p:spTree>
    <p:extLst>
      <p:ext uri="{BB962C8B-B14F-4D97-AF65-F5344CB8AC3E}">
        <p14:creationId xmlns:p14="http://schemas.microsoft.com/office/powerpoint/2010/main" val="79227499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anim calcmode="lin" valueType="num">
                                      <p:cBhvr>
                                        <p:cTn id="2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1000"/>
                                        <p:tgtEl>
                                          <p:spTgt spid="3">
                                            <p:txEl>
                                              <p:pRg st="4" end="4"/>
                                            </p:txEl>
                                          </p:spTgt>
                                        </p:tgtEl>
                                      </p:cBhvr>
                                    </p:animEffect>
                                    <p:anim calcmode="lin" valueType="num">
                                      <p:cBhvr>
                                        <p:cTn id="3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1000"/>
                                        <p:tgtEl>
                                          <p:spTgt spid="4">
                                            <p:txEl>
                                              <p:pRg st="0" end="0"/>
                                            </p:txEl>
                                          </p:spTgt>
                                        </p:tgtEl>
                                      </p:cBhvr>
                                    </p:animEffect>
                                    <p:anim calcmode="lin" valueType="num">
                                      <p:cBhvr>
                                        <p:cTn id="3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fade">
                                      <p:cBhvr>
                                        <p:cTn id="42" dur="1000"/>
                                        <p:tgtEl>
                                          <p:spTgt spid="4">
                                            <p:txEl>
                                              <p:pRg st="1" end="1"/>
                                            </p:txEl>
                                          </p:spTgt>
                                        </p:tgtEl>
                                      </p:cBhvr>
                                    </p:animEffect>
                                    <p:anim calcmode="lin" valueType="num">
                                      <p:cBhvr>
                                        <p:cTn id="4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fade">
                                      <p:cBhvr>
                                        <p:cTn id="47" dur="1000"/>
                                        <p:tgtEl>
                                          <p:spTgt spid="4">
                                            <p:txEl>
                                              <p:pRg st="2" end="2"/>
                                            </p:txEl>
                                          </p:spTgt>
                                        </p:tgtEl>
                                      </p:cBhvr>
                                    </p:animEffect>
                                    <p:anim calcmode="lin" valueType="num">
                                      <p:cBhvr>
                                        <p:cTn id="4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fade">
                                      <p:cBhvr>
                                        <p:cTn id="52" dur="1000"/>
                                        <p:tgtEl>
                                          <p:spTgt spid="4">
                                            <p:txEl>
                                              <p:pRg st="3" end="3"/>
                                            </p:txEl>
                                          </p:spTgt>
                                        </p:tgtEl>
                                      </p:cBhvr>
                                    </p:animEffect>
                                    <p:anim calcmode="lin" valueType="num">
                                      <p:cBhvr>
                                        <p:cTn id="5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fade">
                                      <p:cBhvr>
                                        <p:cTn id="57" dur="1000"/>
                                        <p:tgtEl>
                                          <p:spTgt spid="4">
                                            <p:txEl>
                                              <p:pRg st="4" end="4"/>
                                            </p:txEl>
                                          </p:spTgt>
                                        </p:tgtEl>
                                      </p:cBhvr>
                                    </p:animEffect>
                                    <p:anim calcmode="lin" valueType="num">
                                      <p:cBhvr>
                                        <p:cTn id="5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1000"/>
                                        <p:tgtEl>
                                          <p:spTgt spid="6"/>
                                        </p:tgtEl>
                                      </p:cBhvr>
                                    </p:animEffect>
                                    <p:anim calcmode="lin" valueType="num">
                                      <p:cBhvr>
                                        <p:cTn id="63" dur="1000" fill="hold"/>
                                        <p:tgtEl>
                                          <p:spTgt spid="6"/>
                                        </p:tgtEl>
                                        <p:attrNameLst>
                                          <p:attrName>ppt_x</p:attrName>
                                        </p:attrNameLst>
                                      </p:cBhvr>
                                      <p:tavLst>
                                        <p:tav tm="0">
                                          <p:val>
                                            <p:strVal val="#ppt_x"/>
                                          </p:val>
                                        </p:tav>
                                        <p:tav tm="100000">
                                          <p:val>
                                            <p:strVal val="#ppt_x"/>
                                          </p:val>
                                        </p:tav>
                                      </p:tavLst>
                                    </p:anim>
                                    <p:anim calcmode="lin" valueType="num">
                                      <p:cBhvr>
                                        <p:cTn id="6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1818304-3D87-BAC1-2F53-CF28BEA431BA}"/>
              </a:ext>
            </a:extLst>
          </p:cNvPr>
          <p:cNvSpPr txBox="1"/>
          <p:nvPr/>
        </p:nvSpPr>
        <p:spPr>
          <a:xfrm>
            <a:off x="1635967" y="2829625"/>
            <a:ext cx="8920065" cy="2585323"/>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In the modern digital age, social media plays a central role in daily life, fundamentally influencing how we connect with others and express our identities. This presentation explores a key question: how authentic is the personality we project online compared to our true, offline selves? By analyzing user behavior and self-perception, we seek to understand the relationship between our digital and real-world identities.</a:t>
            </a:r>
            <a:br>
              <a:rPr lang="en-US" dirty="0"/>
            </a:br>
            <a:endParaRPr lang="en-US" dirty="0"/>
          </a:p>
        </p:txBody>
      </p:sp>
      <p:sp>
        <p:nvSpPr>
          <p:cNvPr id="2" name="TextBox 1">
            <a:extLst>
              <a:ext uri="{FF2B5EF4-FFF2-40B4-BE49-F238E27FC236}">
                <a16:creationId xmlns:a16="http://schemas.microsoft.com/office/drawing/2014/main" id="{FD47BCFF-E3F9-67F1-6257-2E54F0097A1A}"/>
              </a:ext>
            </a:extLst>
          </p:cNvPr>
          <p:cNvSpPr txBox="1"/>
          <p:nvPr/>
        </p:nvSpPr>
        <p:spPr>
          <a:xfrm>
            <a:off x="4596384" y="1443052"/>
            <a:ext cx="3243072" cy="707886"/>
          </a:xfrm>
          <a:prstGeom prst="rect">
            <a:avLst/>
          </a:prstGeom>
          <a:noFill/>
        </p:spPr>
        <p:txBody>
          <a:bodyPr wrap="square" rtlCol="0">
            <a:spAutoFit/>
          </a:bodyPr>
          <a:lstStyle/>
          <a:p>
            <a:r>
              <a:rPr lang="en-US" sz="4000" b="1" u="sng" dirty="0">
                <a:latin typeface="Times New Roman" panose="02020603050405020304" pitchFamily="18" charset="0"/>
                <a:cs typeface="Times New Roman" panose="02020603050405020304" pitchFamily="18" charset="0"/>
              </a:rPr>
              <a:t>Introduction</a:t>
            </a:r>
          </a:p>
        </p:txBody>
      </p:sp>
      <p:pic>
        <p:nvPicPr>
          <p:cNvPr id="5" name="Picture 4">
            <a:extLst>
              <a:ext uri="{FF2B5EF4-FFF2-40B4-BE49-F238E27FC236}">
                <a16:creationId xmlns:a16="http://schemas.microsoft.com/office/drawing/2014/main" id="{2103014F-8E94-7C03-4970-B090237713EA}"/>
              </a:ext>
            </a:extLst>
          </p:cNvPr>
          <p:cNvPicPr>
            <a:picLocks noChangeAspect="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3956304" y="1387138"/>
            <a:ext cx="932688" cy="819713"/>
          </a:xfrm>
          <a:prstGeom prst="rect">
            <a:avLst/>
          </a:prstGeom>
        </p:spPr>
      </p:pic>
    </p:spTree>
    <p:extLst>
      <p:ext uri="{BB962C8B-B14F-4D97-AF65-F5344CB8AC3E}">
        <p14:creationId xmlns:p14="http://schemas.microsoft.com/office/powerpoint/2010/main" val="45099248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par>
                                <p:cTn id="8" presetID="22" presetClass="entr" presetSubtype="4" fill="hold" grpId="0" nodeType="withEffect">
                                  <p:stCondLst>
                                    <p:cond delay="25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22" presetClass="entr" presetSubtype="4"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FDDBBA-1D68-CCEA-E14F-529E5BFEF937}"/>
              </a:ext>
            </a:extLst>
          </p:cNvPr>
          <p:cNvSpPr txBox="1"/>
          <p:nvPr/>
        </p:nvSpPr>
        <p:spPr>
          <a:xfrm>
            <a:off x="2426208" y="976682"/>
            <a:ext cx="7778496" cy="707886"/>
          </a:xfrm>
          <a:prstGeom prst="rect">
            <a:avLst/>
          </a:prstGeom>
          <a:noFill/>
        </p:spPr>
        <p:txBody>
          <a:bodyPr wrap="square" rtlCol="0">
            <a:spAutoFit/>
          </a:bodyPr>
          <a:lstStyle/>
          <a:p>
            <a:pPr algn="ctr"/>
            <a:r>
              <a:rPr lang="en-US" sz="4000" b="1" u="sng" dirty="0">
                <a:latin typeface="Times New Roman" panose="02020603050405020304" pitchFamily="18" charset="0"/>
                <a:cs typeface="Times New Roman" panose="02020603050405020304" pitchFamily="18" charset="0"/>
              </a:rPr>
              <a:t>Research Objectives</a:t>
            </a:r>
          </a:p>
        </p:txBody>
      </p:sp>
      <p:sp>
        <p:nvSpPr>
          <p:cNvPr id="3" name="TextBox 2">
            <a:extLst>
              <a:ext uri="{FF2B5EF4-FFF2-40B4-BE49-F238E27FC236}">
                <a16:creationId xmlns:a16="http://schemas.microsoft.com/office/drawing/2014/main" id="{3FFDB91C-B20F-2807-36EA-2D7A7705BF34}"/>
              </a:ext>
            </a:extLst>
          </p:cNvPr>
          <p:cNvSpPr txBox="1"/>
          <p:nvPr/>
        </p:nvSpPr>
        <p:spPr>
          <a:xfrm>
            <a:off x="1350264" y="2306514"/>
            <a:ext cx="7925562" cy="461665"/>
          </a:xfrm>
          <a:prstGeom prst="rect">
            <a:avLst/>
          </a:prstGeom>
          <a:noFill/>
        </p:spPr>
        <p:txBody>
          <a:bodyPr wrap="square">
            <a:spAutoFit/>
          </a:bodyPr>
          <a:lstStyle/>
          <a:p>
            <a:pPr marL="285750" indent="-285750">
              <a:buFont typeface="Wingdings" panose="05000000000000000000" pitchFamily="2" charset="2"/>
              <a:buChar char="ü"/>
            </a:pPr>
            <a:r>
              <a:rPr lang="en-US" sz="2400" dirty="0"/>
              <a:t>  </a:t>
            </a:r>
            <a:r>
              <a:rPr lang="en-US" sz="2400" dirty="0">
                <a:latin typeface="Times New Roman" panose="02020603050405020304" pitchFamily="18" charset="0"/>
                <a:cs typeface="Times New Roman" panose="02020603050405020304" pitchFamily="18" charset="0"/>
              </a:rPr>
              <a:t>Compare real-life vs online behaviors.</a:t>
            </a:r>
          </a:p>
        </p:txBody>
      </p:sp>
      <p:sp>
        <p:nvSpPr>
          <p:cNvPr id="4" name="TextBox 3">
            <a:extLst>
              <a:ext uri="{FF2B5EF4-FFF2-40B4-BE49-F238E27FC236}">
                <a16:creationId xmlns:a16="http://schemas.microsoft.com/office/drawing/2014/main" id="{9D1C740C-AFAA-AB34-2ACB-C6BDB7B71220}"/>
              </a:ext>
            </a:extLst>
          </p:cNvPr>
          <p:cNvSpPr txBox="1"/>
          <p:nvPr/>
        </p:nvSpPr>
        <p:spPr>
          <a:xfrm>
            <a:off x="1350264" y="3186637"/>
            <a:ext cx="7830312" cy="461665"/>
          </a:xfrm>
          <a:prstGeom prst="rect">
            <a:avLst/>
          </a:prstGeom>
          <a:noFill/>
        </p:spPr>
        <p:txBody>
          <a:bodyPr wrap="square">
            <a:spAutoFit/>
          </a:bodyPr>
          <a:lstStyle/>
          <a:p>
            <a:pPr marL="285750" indent="-285750">
              <a:buFont typeface="Wingdings" panose="05000000000000000000" pitchFamily="2" charset="2"/>
              <a:buChar char="ü"/>
            </a:pPr>
            <a:r>
              <a:rPr lang="en-US" sz="2000" dirty="0"/>
              <a:t>  </a:t>
            </a:r>
            <a:r>
              <a:rPr lang="en-US" sz="2400" dirty="0">
                <a:latin typeface="Times New Roman" panose="02020603050405020304" pitchFamily="18" charset="0"/>
                <a:cs typeface="Times New Roman" panose="02020603050405020304" pitchFamily="18" charset="0"/>
              </a:rPr>
              <a:t>Understand why people modify their personality online.</a:t>
            </a:r>
          </a:p>
        </p:txBody>
      </p:sp>
      <p:sp>
        <p:nvSpPr>
          <p:cNvPr id="5" name="TextBox 4">
            <a:extLst>
              <a:ext uri="{FF2B5EF4-FFF2-40B4-BE49-F238E27FC236}">
                <a16:creationId xmlns:a16="http://schemas.microsoft.com/office/drawing/2014/main" id="{189FCF59-BD50-DFA5-983E-E5C3B3FEE4C3}"/>
              </a:ext>
            </a:extLst>
          </p:cNvPr>
          <p:cNvSpPr txBox="1"/>
          <p:nvPr/>
        </p:nvSpPr>
        <p:spPr>
          <a:xfrm>
            <a:off x="1350264" y="4093828"/>
            <a:ext cx="7427976" cy="461665"/>
          </a:xfrm>
          <a:prstGeom prst="rect">
            <a:avLst/>
          </a:prstGeom>
          <a:noFill/>
        </p:spPr>
        <p:txBody>
          <a:bodyPr wrap="square">
            <a:spAutoFit/>
          </a:bodyPr>
          <a:lstStyle/>
          <a:p>
            <a:pPr marL="285750" indent="-285750">
              <a:buFont typeface="Wingdings" panose="05000000000000000000" pitchFamily="2" charset="2"/>
              <a:buChar char="ü"/>
            </a:pPr>
            <a:r>
              <a:rPr lang="en-US" sz="2000" dirty="0"/>
              <a:t> </a:t>
            </a:r>
            <a:r>
              <a:rPr lang="en-US" sz="2400" dirty="0">
                <a:latin typeface="Times New Roman" panose="02020603050405020304" pitchFamily="18" charset="0"/>
                <a:cs typeface="Times New Roman" panose="02020603050405020304" pitchFamily="18" charset="0"/>
              </a:rPr>
              <a:t>Explore how authenticity changes on social platforms.</a:t>
            </a:r>
          </a:p>
        </p:txBody>
      </p:sp>
      <p:sp>
        <p:nvSpPr>
          <p:cNvPr id="6" name="TextBox 5">
            <a:extLst>
              <a:ext uri="{FF2B5EF4-FFF2-40B4-BE49-F238E27FC236}">
                <a16:creationId xmlns:a16="http://schemas.microsoft.com/office/drawing/2014/main" id="{0C5813DD-5AE2-5A34-C61E-6E7C3744D4FB}"/>
              </a:ext>
            </a:extLst>
          </p:cNvPr>
          <p:cNvSpPr txBox="1"/>
          <p:nvPr/>
        </p:nvSpPr>
        <p:spPr>
          <a:xfrm>
            <a:off x="1350264" y="5150371"/>
            <a:ext cx="9116568" cy="1107996"/>
          </a:xfrm>
          <a:prstGeom prst="rect">
            <a:avLst/>
          </a:prstGeom>
          <a:noFill/>
        </p:spPr>
        <p:txBody>
          <a:bodyPr wrap="square" rtlCol="0">
            <a:spAutoFit/>
          </a:bodyPr>
          <a:lstStyle/>
          <a:p>
            <a:pPr marL="285750" indent="-285750">
              <a:buFont typeface="Wingdings" panose="05000000000000000000" pitchFamily="2" charset="2"/>
              <a:buChar char="ü"/>
            </a:pPr>
            <a:r>
              <a:rPr lang="en-US" dirty="0"/>
              <a:t> </a:t>
            </a:r>
            <a:r>
              <a:rPr lang="en-US" sz="2400" dirty="0">
                <a:latin typeface="Times New Roman" panose="02020603050405020304" pitchFamily="18" charset="0"/>
                <a:cs typeface="Times New Roman" panose="02020603050405020304" pitchFamily="18" charset="0"/>
              </a:rPr>
              <a:t>Determine whether online identity boosts self-expression or hides insecurities.</a:t>
            </a:r>
          </a:p>
          <a:p>
            <a:endParaRPr lang="en-US" dirty="0"/>
          </a:p>
        </p:txBody>
      </p:sp>
      <p:pic>
        <p:nvPicPr>
          <p:cNvPr id="8" name="Picture 7">
            <a:extLst>
              <a:ext uri="{FF2B5EF4-FFF2-40B4-BE49-F238E27FC236}">
                <a16:creationId xmlns:a16="http://schemas.microsoft.com/office/drawing/2014/main" id="{9C69B0DE-65E8-3D66-A33B-FAEC89E16C4D}"/>
              </a:ext>
            </a:extLst>
          </p:cNvPr>
          <p:cNvPicPr>
            <a:picLocks noChangeAspect="1"/>
          </p:cNvPicPr>
          <p:nvPr/>
        </p:nvPicPr>
        <p:blipFill>
          <a:blip r:embed="rId2">
            <a:clrChange>
              <a:clrFrom>
                <a:srgbClr val="ECECEC"/>
              </a:clrFrom>
              <a:clrTo>
                <a:srgbClr val="ECECEC">
                  <a:alpha val="0"/>
                </a:srgbClr>
              </a:clrTo>
            </a:clrChange>
            <a:extLst>
              <a:ext uri="{BEBA8EAE-BF5A-486C-A8C5-ECC9F3942E4B}">
                <a14:imgProps xmlns:a14="http://schemas.microsoft.com/office/drawing/2010/main">
                  <a14:imgLayer r:embed="rId3">
                    <a14:imgEffect>
                      <a14:backgroundRemoval t="10000" b="90000" l="10000" r="90000">
                        <a14:backgroundMark x1="94030" y1="69149" x2="97015" y2="98404"/>
                      </a14:backgroundRemoval>
                    </a14:imgEffect>
                  </a14:imgLayer>
                </a14:imgProps>
              </a:ext>
              <a:ext uri="{28A0092B-C50C-407E-A947-70E740481C1C}">
                <a14:useLocalDpi xmlns:a14="http://schemas.microsoft.com/office/drawing/2010/main" val="0"/>
              </a:ext>
            </a:extLst>
          </a:blip>
          <a:stretch>
            <a:fillRect/>
          </a:stretch>
        </p:blipFill>
        <p:spPr>
          <a:xfrm>
            <a:off x="3560064" y="1093814"/>
            <a:ext cx="573024" cy="590754"/>
          </a:xfrm>
          <a:prstGeom prst="rect">
            <a:avLst/>
          </a:prstGeom>
        </p:spPr>
      </p:pic>
    </p:spTree>
    <p:extLst>
      <p:ext uri="{BB962C8B-B14F-4D97-AF65-F5344CB8AC3E}">
        <p14:creationId xmlns:p14="http://schemas.microsoft.com/office/powerpoint/2010/main" val="123334490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89D996-A5E6-AA07-1280-302177CBDE07}"/>
              </a:ext>
            </a:extLst>
          </p:cNvPr>
          <p:cNvSpPr txBox="1"/>
          <p:nvPr/>
        </p:nvSpPr>
        <p:spPr>
          <a:xfrm>
            <a:off x="1494503" y="2476125"/>
            <a:ext cx="9960077" cy="3693319"/>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survey was conducted to gather data on online behavior and self-perception.</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Respondents were asked questions about their social media usage, identity presentation, and confidence.</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Key topics included the use of real names and photos, the similarity between online and real-life personalities, and how often content is edited.</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collected data was analyzed and visualized using charts and graphs to identify trends and patterns.</a:t>
            </a:r>
          </a:p>
          <a:p>
            <a:br>
              <a:rPr lang="en-US" dirty="0"/>
            </a:br>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FF2ACA7-5651-F39C-D495-B68BA36C9FB4}"/>
              </a:ext>
            </a:extLst>
          </p:cNvPr>
          <p:cNvSpPr txBox="1"/>
          <p:nvPr/>
        </p:nvSpPr>
        <p:spPr>
          <a:xfrm>
            <a:off x="4472671" y="1031591"/>
            <a:ext cx="3736652" cy="707886"/>
          </a:xfrm>
          <a:prstGeom prst="rect">
            <a:avLst/>
          </a:prstGeom>
          <a:noFill/>
        </p:spPr>
        <p:txBody>
          <a:bodyPr wrap="square" rtlCol="0">
            <a:spAutoFit/>
          </a:bodyPr>
          <a:lstStyle/>
          <a:p>
            <a:pPr algn="ctr"/>
            <a:r>
              <a:rPr lang="en-US" sz="4000" b="1" u="sng" dirty="0">
                <a:latin typeface="Times New Roman" panose="02020603050405020304" pitchFamily="18" charset="0"/>
                <a:cs typeface="Times New Roman" panose="02020603050405020304" pitchFamily="18" charset="0"/>
              </a:rPr>
              <a:t>Methodology</a:t>
            </a:r>
          </a:p>
        </p:txBody>
      </p:sp>
      <p:pic>
        <p:nvPicPr>
          <p:cNvPr id="10" name="Picture 9">
            <a:extLst>
              <a:ext uri="{FF2B5EF4-FFF2-40B4-BE49-F238E27FC236}">
                <a16:creationId xmlns:a16="http://schemas.microsoft.com/office/drawing/2014/main" id="{973C0CD8-8656-E835-DDF0-257C49F2D66B}"/>
              </a:ext>
            </a:extLst>
          </p:cNvPr>
          <p:cNvPicPr>
            <a:picLocks noChangeAspect="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4330520" y="955209"/>
            <a:ext cx="639711" cy="865258"/>
          </a:xfrm>
          <a:prstGeom prst="rect">
            <a:avLst/>
          </a:prstGeom>
        </p:spPr>
      </p:pic>
    </p:spTree>
    <p:extLst>
      <p:ext uri="{BB962C8B-B14F-4D97-AF65-F5344CB8AC3E}">
        <p14:creationId xmlns:p14="http://schemas.microsoft.com/office/powerpoint/2010/main" val="49969324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12A15E40-5540-E76D-FE3A-CD6C1EA4222A}"/>
              </a:ext>
            </a:extLst>
          </p:cNvPr>
          <p:cNvGraphicFramePr>
            <a:graphicFrameLocks/>
          </p:cNvGraphicFramePr>
          <p:nvPr>
            <p:extLst>
              <p:ext uri="{D42A27DB-BD31-4B8C-83A1-F6EECF244321}">
                <p14:modId xmlns:p14="http://schemas.microsoft.com/office/powerpoint/2010/main" val="2273243699"/>
              </p:ext>
            </p:extLst>
          </p:nvPr>
        </p:nvGraphicFramePr>
        <p:xfrm>
          <a:off x="662153" y="1584689"/>
          <a:ext cx="5055307" cy="27415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61127EE4-D506-1EE0-DF44-304ED636A3B2}"/>
              </a:ext>
            </a:extLst>
          </p:cNvPr>
          <p:cNvGraphicFramePr>
            <a:graphicFrameLocks/>
          </p:cNvGraphicFramePr>
          <p:nvPr>
            <p:extLst>
              <p:ext uri="{D42A27DB-BD31-4B8C-83A1-F6EECF244321}">
                <p14:modId xmlns:p14="http://schemas.microsoft.com/office/powerpoint/2010/main" val="2259715770"/>
              </p:ext>
            </p:extLst>
          </p:nvPr>
        </p:nvGraphicFramePr>
        <p:xfrm>
          <a:off x="5978012" y="4070274"/>
          <a:ext cx="5551835" cy="2595999"/>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3EA2A6EF-BA31-55FF-0D23-31133DDE9191}"/>
              </a:ext>
            </a:extLst>
          </p:cNvPr>
          <p:cNvSpPr txBox="1"/>
          <p:nvPr/>
        </p:nvSpPr>
        <p:spPr>
          <a:xfrm>
            <a:off x="3378757" y="720536"/>
            <a:ext cx="5948123" cy="707886"/>
          </a:xfrm>
          <a:prstGeom prst="rect">
            <a:avLst/>
          </a:prstGeom>
          <a:noFill/>
        </p:spPr>
        <p:txBody>
          <a:bodyPr wrap="square" rtlCol="0">
            <a:spAutoFit/>
          </a:bodyPr>
          <a:lstStyle/>
          <a:p>
            <a:r>
              <a:rPr lang="en-US" sz="4000" b="1" u="sng" dirty="0">
                <a:latin typeface="Times New Roman" panose="02020603050405020304" pitchFamily="18" charset="0"/>
                <a:cs typeface="Times New Roman" panose="02020603050405020304" pitchFamily="18" charset="0"/>
              </a:rPr>
              <a:t>Graphical Representation</a:t>
            </a:r>
          </a:p>
        </p:txBody>
      </p:sp>
      <p:sp>
        <p:nvSpPr>
          <p:cNvPr id="4" name="TextBox 3">
            <a:extLst>
              <a:ext uri="{FF2B5EF4-FFF2-40B4-BE49-F238E27FC236}">
                <a16:creationId xmlns:a16="http://schemas.microsoft.com/office/drawing/2014/main" id="{8DD3754D-459F-7EBA-0AF5-71228EC20F7F}"/>
              </a:ext>
            </a:extLst>
          </p:cNvPr>
          <p:cNvSpPr txBox="1"/>
          <p:nvPr/>
        </p:nvSpPr>
        <p:spPr>
          <a:xfrm>
            <a:off x="4962145" y="1983049"/>
            <a:ext cx="5245804" cy="1631216"/>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Majority of respondents were 18–25 years old.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next largest group was under 18 years.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6% of responses came from 26–35 years old.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Only 3% of respondents were 35+ years old.</a:t>
            </a:r>
          </a:p>
        </p:txBody>
      </p:sp>
      <p:sp>
        <p:nvSpPr>
          <p:cNvPr id="10" name="TextBox 9">
            <a:extLst>
              <a:ext uri="{FF2B5EF4-FFF2-40B4-BE49-F238E27FC236}">
                <a16:creationId xmlns:a16="http://schemas.microsoft.com/office/drawing/2014/main" id="{7E39BA0B-8207-B353-F5F5-687881690885}"/>
              </a:ext>
            </a:extLst>
          </p:cNvPr>
          <p:cNvSpPr txBox="1"/>
          <p:nvPr/>
        </p:nvSpPr>
        <p:spPr>
          <a:xfrm>
            <a:off x="1877568" y="4836404"/>
            <a:ext cx="4623816"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majority of respondents were female, while a smaller portion were male.</a:t>
            </a:r>
            <a:endParaRPr lang="en-US" sz="2000" dirty="0"/>
          </a:p>
        </p:txBody>
      </p:sp>
      <p:pic>
        <p:nvPicPr>
          <p:cNvPr id="12" name="Picture 11">
            <a:extLst>
              <a:ext uri="{FF2B5EF4-FFF2-40B4-BE49-F238E27FC236}">
                <a16:creationId xmlns:a16="http://schemas.microsoft.com/office/drawing/2014/main" id="{2A098A2A-F742-2CAF-60F2-15C3AB145A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23392" y="915056"/>
            <a:ext cx="532828" cy="414528"/>
          </a:xfrm>
          <a:prstGeom prst="rect">
            <a:avLst/>
          </a:prstGeom>
        </p:spPr>
      </p:pic>
    </p:spTree>
    <p:extLst>
      <p:ext uri="{BB962C8B-B14F-4D97-AF65-F5344CB8AC3E}">
        <p14:creationId xmlns:p14="http://schemas.microsoft.com/office/powerpoint/2010/main" val="8537516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inVertical)">
                                      <p:cBhvr>
                                        <p:cTn id="16" dur="500"/>
                                        <p:tgtEl>
                                          <p:spTgt spid="4"/>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Graphic spid="6" grpId="0">
        <p:bldAsOne/>
      </p:bldGraphic>
      <p:bldP spid="9" grpId="0"/>
      <p:bldP spid="4"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CB7CE6-EF25-CEA3-B56B-A2D366271494}"/>
              </a:ext>
            </a:extLst>
          </p:cNvPr>
          <p:cNvSpPr txBox="1"/>
          <p:nvPr/>
        </p:nvSpPr>
        <p:spPr>
          <a:xfrm>
            <a:off x="5786284" y="3126658"/>
            <a:ext cx="914400" cy="914400"/>
          </a:xfrm>
          <a:prstGeom prst="rect">
            <a:avLst/>
          </a:prstGeom>
          <a:noFill/>
        </p:spPr>
        <p:txBody>
          <a:bodyPr wrap="square" rtlCol="0">
            <a:spAutoFit/>
          </a:bodyPr>
          <a:lstStyle/>
          <a:p>
            <a:endParaRPr lang="en-US" dirty="0"/>
          </a:p>
        </p:txBody>
      </p:sp>
      <p:sp>
        <p:nvSpPr>
          <p:cNvPr id="6" name="TextBox 5">
            <a:extLst>
              <a:ext uri="{FF2B5EF4-FFF2-40B4-BE49-F238E27FC236}">
                <a16:creationId xmlns:a16="http://schemas.microsoft.com/office/drawing/2014/main" id="{B5072D65-C5A7-52E8-F8A9-259636AE332F}"/>
              </a:ext>
            </a:extLst>
          </p:cNvPr>
          <p:cNvSpPr txBox="1"/>
          <p:nvPr/>
        </p:nvSpPr>
        <p:spPr>
          <a:xfrm>
            <a:off x="5938684" y="3279058"/>
            <a:ext cx="914400" cy="914400"/>
          </a:xfrm>
          <a:prstGeom prst="rect">
            <a:avLst/>
          </a:prstGeom>
          <a:noFill/>
        </p:spPr>
        <p:txBody>
          <a:bodyPr wrap="square" rtlCol="0">
            <a:spAutoFit/>
          </a:bodyPr>
          <a:lstStyle/>
          <a:p>
            <a:endParaRPr lang="en-US" dirty="0"/>
          </a:p>
        </p:txBody>
      </p:sp>
      <p:graphicFrame>
        <p:nvGraphicFramePr>
          <p:cNvPr id="8" name="Chart 7">
            <a:extLst>
              <a:ext uri="{FF2B5EF4-FFF2-40B4-BE49-F238E27FC236}">
                <a16:creationId xmlns:a16="http://schemas.microsoft.com/office/drawing/2014/main" id="{3FFAE045-7078-71D8-4469-9FDAA122EAE5}"/>
              </a:ext>
            </a:extLst>
          </p:cNvPr>
          <p:cNvGraphicFramePr>
            <a:graphicFrameLocks/>
          </p:cNvGraphicFramePr>
          <p:nvPr>
            <p:extLst>
              <p:ext uri="{D42A27DB-BD31-4B8C-83A1-F6EECF244321}">
                <p14:modId xmlns:p14="http://schemas.microsoft.com/office/powerpoint/2010/main" val="3397736277"/>
              </p:ext>
            </p:extLst>
          </p:nvPr>
        </p:nvGraphicFramePr>
        <p:xfrm>
          <a:off x="331690" y="305976"/>
          <a:ext cx="5191309" cy="373508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03450F74-D075-A3B9-3845-4BA1E467D594}"/>
              </a:ext>
            </a:extLst>
          </p:cNvPr>
          <p:cNvGraphicFramePr>
            <a:graphicFrameLocks/>
          </p:cNvGraphicFramePr>
          <p:nvPr>
            <p:extLst>
              <p:ext uri="{D42A27DB-BD31-4B8C-83A1-F6EECF244321}">
                <p14:modId xmlns:p14="http://schemas.microsoft.com/office/powerpoint/2010/main" val="4058082151"/>
              </p:ext>
            </p:extLst>
          </p:nvPr>
        </p:nvGraphicFramePr>
        <p:xfrm>
          <a:off x="6617654" y="1671517"/>
          <a:ext cx="4902179" cy="3824681"/>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6B43905D-D4D2-67C7-D28A-B477C7F29096}"/>
              </a:ext>
            </a:extLst>
          </p:cNvPr>
          <p:cNvSpPr txBox="1"/>
          <p:nvPr/>
        </p:nvSpPr>
        <p:spPr>
          <a:xfrm>
            <a:off x="844004" y="4289089"/>
            <a:ext cx="494228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Most respondents only sometimes use their real name and photo online, showing a preference for partial anonymity.</a:t>
            </a:r>
            <a:endParaRPr lang="en-US" sz="2000" dirty="0"/>
          </a:p>
        </p:txBody>
      </p:sp>
      <p:sp>
        <p:nvSpPr>
          <p:cNvPr id="12" name="TextBox 11">
            <a:extLst>
              <a:ext uri="{FF2B5EF4-FFF2-40B4-BE49-F238E27FC236}">
                <a16:creationId xmlns:a16="http://schemas.microsoft.com/office/drawing/2014/main" id="{13D57807-C166-EBF9-8E91-D875A30D0192}"/>
              </a:ext>
            </a:extLst>
          </p:cNvPr>
          <p:cNvSpPr txBox="1"/>
          <p:nvPr/>
        </p:nvSpPr>
        <p:spPr>
          <a:xfrm>
            <a:off x="6243484" y="5547403"/>
            <a:ext cx="5650521" cy="160043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While a significant majority often edits content, a notable segment of respondents “Never” filter their posts, suggesting a preference for complete authenticity online</a:t>
            </a:r>
            <a:r>
              <a:rPr lang="en-US" dirty="0">
                <a:latin typeface="Times New Roman" panose="02020603050405020304" pitchFamily="18" charset="0"/>
                <a:cs typeface="Times New Roman" panose="02020603050405020304" pitchFamily="18" charset="0"/>
              </a:rPr>
              <a:t>.</a:t>
            </a:r>
            <a:br>
              <a:rPr lang="en-US" dirty="0"/>
            </a:br>
            <a:endParaRPr lang="en-US" dirty="0"/>
          </a:p>
        </p:txBody>
      </p:sp>
    </p:spTree>
    <p:extLst>
      <p:ext uri="{BB962C8B-B14F-4D97-AF65-F5344CB8AC3E}">
        <p14:creationId xmlns:p14="http://schemas.microsoft.com/office/powerpoint/2010/main" val="44824657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heel(1)">
                                      <p:cBhvr>
                                        <p:cTn id="13" dur="1000"/>
                                        <p:tgtEl>
                                          <p:spTgt spid="10"/>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heel(1)">
                                      <p:cBhvr>
                                        <p:cTn id="16"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Graphic spid="10" grpId="0">
        <p:bldAsOne/>
      </p:bldGraphic>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401FB3AF-E091-FD1F-02D0-13634B625FE3}"/>
              </a:ext>
            </a:extLst>
          </p:cNvPr>
          <p:cNvGraphicFramePr>
            <a:graphicFrameLocks/>
          </p:cNvGraphicFramePr>
          <p:nvPr>
            <p:extLst>
              <p:ext uri="{D42A27DB-BD31-4B8C-83A1-F6EECF244321}">
                <p14:modId xmlns:p14="http://schemas.microsoft.com/office/powerpoint/2010/main" val="3939790258"/>
              </p:ext>
            </p:extLst>
          </p:nvPr>
        </p:nvGraphicFramePr>
        <p:xfrm>
          <a:off x="865005" y="788529"/>
          <a:ext cx="4372831" cy="374719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BE0F8356-E412-0237-893C-9B579061C006}"/>
              </a:ext>
            </a:extLst>
          </p:cNvPr>
          <p:cNvGraphicFramePr>
            <a:graphicFrameLocks/>
          </p:cNvGraphicFramePr>
          <p:nvPr>
            <p:extLst>
              <p:ext uri="{D42A27DB-BD31-4B8C-83A1-F6EECF244321}">
                <p14:modId xmlns:p14="http://schemas.microsoft.com/office/powerpoint/2010/main" val="3175746300"/>
              </p:ext>
            </p:extLst>
          </p:nvPr>
        </p:nvGraphicFramePr>
        <p:xfrm>
          <a:off x="5938345" y="634640"/>
          <a:ext cx="5510784" cy="4054975"/>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E45AAAB9-B99C-B101-E898-3DA8DB540AEE}"/>
              </a:ext>
            </a:extLst>
          </p:cNvPr>
          <p:cNvSpPr txBox="1"/>
          <p:nvPr/>
        </p:nvSpPr>
        <p:spPr>
          <a:xfrm>
            <a:off x="188657" y="4752439"/>
            <a:ext cx="5389195" cy="1631216"/>
          </a:xfrm>
          <a:prstGeom prst="rect">
            <a:avLst/>
          </a:prstGeom>
          <a:noFill/>
        </p:spPr>
        <p:txBody>
          <a:bodyPr wrap="square" rtlCol="0">
            <a:spAutoFit/>
          </a:bodyPr>
          <a:lstStyle/>
          <a:p>
            <a:pPr marL="285750" indent="-285750" algn="justLow">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results show that 54% of respondents feel more confident on social media, while 45% feel more confident in real life. This indicates that both views are almost equally represented, with a slight tilt toward online confidence.</a:t>
            </a:r>
          </a:p>
        </p:txBody>
      </p:sp>
      <p:sp>
        <p:nvSpPr>
          <p:cNvPr id="12" name="TextBox 11">
            <a:extLst>
              <a:ext uri="{FF2B5EF4-FFF2-40B4-BE49-F238E27FC236}">
                <a16:creationId xmlns:a16="http://schemas.microsoft.com/office/drawing/2014/main" id="{083670DD-6B7D-4E43-9BB1-CC04CE7C3638}"/>
              </a:ext>
            </a:extLst>
          </p:cNvPr>
          <p:cNvSpPr txBox="1"/>
          <p:nvPr/>
        </p:nvSpPr>
        <p:spPr>
          <a:xfrm>
            <a:off x="6208662" y="5060216"/>
            <a:ext cx="4970150" cy="132343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respondents believe they are what they present themselves online while a very few people disagree with authenticity of their online personality.</a:t>
            </a:r>
          </a:p>
        </p:txBody>
      </p:sp>
    </p:spTree>
    <p:extLst>
      <p:ext uri="{BB962C8B-B14F-4D97-AF65-F5344CB8AC3E}">
        <p14:creationId xmlns:p14="http://schemas.microsoft.com/office/powerpoint/2010/main" val="31303572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randombar(horizontal)">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Graphic spid="5" grpId="0">
        <p:bldAsOne/>
      </p:bldGraphic>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26000">
              <a:schemeClr val="bg2">
                <a:lumMod val="50000"/>
              </a:schemeClr>
            </a:gs>
            <a:gs pos="100000">
              <a:schemeClr val="bg1">
                <a:lumMod val="50000"/>
                <a:lumOff val="50000"/>
              </a:schemeClr>
            </a:gs>
          </a:gsLst>
          <a:lin ang="6120000" scaled="1"/>
          <a:tileRect/>
        </a:gradFill>
        <a:effectLst/>
      </p:bgPr>
    </p:bg>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E8DAA3D-F192-419B-6EB0-37EE8CAE93F5}"/>
              </a:ext>
            </a:extLst>
          </p:cNvPr>
          <p:cNvGraphicFramePr>
            <a:graphicFrameLocks/>
          </p:cNvGraphicFramePr>
          <p:nvPr>
            <p:extLst>
              <p:ext uri="{D42A27DB-BD31-4B8C-83A1-F6EECF244321}">
                <p14:modId xmlns:p14="http://schemas.microsoft.com/office/powerpoint/2010/main" val="3527431895"/>
              </p:ext>
            </p:extLst>
          </p:nvPr>
        </p:nvGraphicFramePr>
        <p:xfrm>
          <a:off x="1079090" y="398585"/>
          <a:ext cx="5638233" cy="4501661"/>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EE5237C1-253D-9018-2333-4551774F15BE}"/>
              </a:ext>
            </a:extLst>
          </p:cNvPr>
          <p:cNvSpPr txBox="1"/>
          <p:nvPr/>
        </p:nvSpPr>
        <p:spPr>
          <a:xfrm>
            <a:off x="1079090" y="4900246"/>
            <a:ext cx="5368602" cy="132343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data shows that most people feel their online personality is very similar to their real-life one, with only a small minority believing it is significantly different.</a:t>
            </a:r>
          </a:p>
        </p:txBody>
      </p:sp>
      <p:graphicFrame>
        <p:nvGraphicFramePr>
          <p:cNvPr id="4" name="Chart 3">
            <a:extLst>
              <a:ext uri="{FF2B5EF4-FFF2-40B4-BE49-F238E27FC236}">
                <a16:creationId xmlns:a16="http://schemas.microsoft.com/office/drawing/2014/main" id="{5CFB08C6-2D24-DA33-6A15-96C5563EFC49}"/>
              </a:ext>
            </a:extLst>
          </p:cNvPr>
          <p:cNvGraphicFramePr>
            <a:graphicFrameLocks/>
          </p:cNvGraphicFramePr>
          <p:nvPr>
            <p:extLst>
              <p:ext uri="{D42A27DB-BD31-4B8C-83A1-F6EECF244321}">
                <p14:modId xmlns:p14="http://schemas.microsoft.com/office/powerpoint/2010/main" val="380105611"/>
              </p:ext>
            </p:extLst>
          </p:nvPr>
        </p:nvGraphicFramePr>
        <p:xfrm>
          <a:off x="6905297" y="1103586"/>
          <a:ext cx="4372303" cy="358939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3AEAD593-B79B-FDCB-4E25-795C1EF47372}"/>
              </a:ext>
            </a:extLst>
          </p:cNvPr>
          <p:cNvSpPr txBox="1"/>
          <p:nvPr/>
        </p:nvSpPr>
        <p:spPr>
          <a:xfrm>
            <a:off x="7065860" y="4785205"/>
            <a:ext cx="4699078" cy="129266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pie chart shows that 37% of respondents believe their real-life version is better than their online personality.</a:t>
            </a:r>
          </a:p>
          <a:p>
            <a:endParaRPr lang="en-US" dirty="0"/>
          </a:p>
        </p:txBody>
      </p:sp>
    </p:spTree>
    <p:extLst>
      <p:ext uri="{BB962C8B-B14F-4D97-AF65-F5344CB8AC3E}">
        <p14:creationId xmlns:p14="http://schemas.microsoft.com/office/powerpoint/2010/main" val="168844579"/>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p:bldGraphic spid="4" grpId="0">
        <p:bldAsOne/>
      </p:bldGraphic>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9224A4C-0682-1D1E-D1A9-358496823321}"/>
              </a:ext>
            </a:extLst>
          </p:cNvPr>
          <p:cNvGraphicFramePr>
            <a:graphicFrameLocks noGrp="1"/>
          </p:cNvGraphicFramePr>
          <p:nvPr>
            <p:extLst>
              <p:ext uri="{D42A27DB-BD31-4B8C-83A1-F6EECF244321}">
                <p14:modId xmlns:p14="http://schemas.microsoft.com/office/powerpoint/2010/main" val="3476994793"/>
              </p:ext>
            </p:extLst>
          </p:nvPr>
        </p:nvGraphicFramePr>
        <p:xfrm>
          <a:off x="1381629" y="1389888"/>
          <a:ext cx="9645445" cy="5065931"/>
        </p:xfrm>
        <a:graphic>
          <a:graphicData uri="http://schemas.openxmlformats.org/drawingml/2006/table">
            <a:tbl>
              <a:tblPr firstRow="1" bandRow="1">
                <a:tableStyleId>{616DA210-FB5B-4158-B5E0-FEB733F419BA}</a:tableStyleId>
              </a:tblPr>
              <a:tblGrid>
                <a:gridCol w="4817806">
                  <a:extLst>
                    <a:ext uri="{9D8B030D-6E8A-4147-A177-3AD203B41FA5}">
                      <a16:colId xmlns:a16="http://schemas.microsoft.com/office/drawing/2014/main" val="1350708420"/>
                    </a:ext>
                  </a:extLst>
                </a:gridCol>
                <a:gridCol w="4827639">
                  <a:extLst>
                    <a:ext uri="{9D8B030D-6E8A-4147-A177-3AD203B41FA5}">
                      <a16:colId xmlns:a16="http://schemas.microsoft.com/office/drawing/2014/main" val="2117952590"/>
                    </a:ext>
                  </a:extLst>
                </a:gridCol>
              </a:tblGrid>
              <a:tr h="716677">
                <a:tc>
                  <a:txBody>
                    <a:bodyPr/>
                    <a:lstStyle/>
                    <a:p>
                      <a:pPr algn="ctr"/>
                      <a:r>
                        <a:rPr lang="en-US" sz="3600" b="1" dirty="0">
                          <a:latin typeface="Times New Roman" panose="02020603050405020304" pitchFamily="18" charset="0"/>
                          <a:cs typeface="Times New Roman" panose="02020603050405020304" pitchFamily="18" charset="0"/>
                        </a:rPr>
                        <a:t>Questions</a:t>
                      </a:r>
                    </a:p>
                  </a:txBody>
                  <a:tcPr/>
                </a:tc>
                <a:tc>
                  <a:txBody>
                    <a:bodyPr/>
                    <a:lstStyle/>
                    <a:p>
                      <a:pPr algn="ctr"/>
                      <a:r>
                        <a:rPr lang="en-US" sz="4000" dirty="0">
                          <a:latin typeface="Times New Roman" panose="02020603050405020304" pitchFamily="18" charset="0"/>
                          <a:cs typeface="Times New Roman" panose="02020603050405020304" pitchFamily="18" charset="0"/>
                        </a:rPr>
                        <a:t>Answers</a:t>
                      </a:r>
                    </a:p>
                  </a:txBody>
                  <a:tcPr/>
                </a:tc>
                <a:extLst>
                  <a:ext uri="{0D108BD9-81ED-4DB2-BD59-A6C34878D82A}">
                    <a16:rowId xmlns:a16="http://schemas.microsoft.com/office/drawing/2014/main" val="2713026855"/>
                  </a:ext>
                </a:extLst>
              </a:tr>
              <a:tr h="1010742">
                <a:tc>
                  <a:txBody>
                    <a:bodyPr/>
                    <a:lstStyle/>
                    <a:p>
                      <a:r>
                        <a:rPr lang="en-US" sz="2000" dirty="0">
                          <a:latin typeface="Times New Roman" panose="02020603050405020304" pitchFamily="18" charset="0"/>
                          <a:cs typeface="Times New Roman" panose="02020603050405020304" pitchFamily="18" charset="0"/>
                        </a:rPr>
                        <a:t>What motivates you to use social media everyday?</a:t>
                      </a:r>
                    </a:p>
                  </a:txBody>
                  <a:tcPr/>
                </a:tc>
                <a:tc>
                  <a:txBody>
                    <a:bodyPr/>
                    <a:lstStyle/>
                    <a:p>
                      <a:r>
                        <a:rPr lang="en-US" sz="2000" dirty="0">
                          <a:latin typeface="Times New Roman" panose="02020603050405020304" pitchFamily="18" charset="0"/>
                          <a:cs typeface="Times New Roman" panose="02020603050405020304" pitchFamily="18" charset="0"/>
                        </a:rPr>
                        <a:t>Most respondents said they use social media to pass time or for entertainment, while some use it to share their creativity.</a:t>
                      </a:r>
                    </a:p>
                  </a:txBody>
                  <a:tcPr/>
                </a:tc>
                <a:extLst>
                  <a:ext uri="{0D108BD9-81ED-4DB2-BD59-A6C34878D82A}">
                    <a16:rowId xmlns:a16="http://schemas.microsoft.com/office/drawing/2014/main" val="3904817032"/>
                  </a:ext>
                </a:extLst>
              </a:tr>
              <a:tr h="1010742">
                <a:tc>
                  <a:txBody>
                    <a:bodyPr/>
                    <a:lstStyle/>
                    <a:p>
                      <a:r>
                        <a:rPr lang="en-US" sz="2000" b="0" kern="1200" dirty="0">
                          <a:solidFill>
                            <a:schemeClr val="tx1"/>
                          </a:solidFill>
                          <a:effectLst/>
                          <a:latin typeface="Times New Roman" panose="02020603050405020304" pitchFamily="18" charset="0"/>
                          <a:cs typeface="Times New Roman" panose="02020603050405020304" pitchFamily="18" charset="0"/>
                        </a:rPr>
                        <a:t>How often do you post content (photos, updates, videos) online?</a:t>
                      </a:r>
                      <a:endParaRPr lang="en-US" sz="2000" b="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According to the survey, 52% of respondents said they sometimes post online, 25% never post, and 14% post often.</a:t>
                      </a:r>
                    </a:p>
                  </a:txBody>
                  <a:tcPr/>
                </a:tc>
                <a:extLst>
                  <a:ext uri="{0D108BD9-81ED-4DB2-BD59-A6C34878D82A}">
                    <a16:rowId xmlns:a16="http://schemas.microsoft.com/office/drawing/2014/main" val="1492296161"/>
                  </a:ext>
                </a:extLst>
              </a:tr>
              <a:tr h="1010742">
                <a:tc>
                  <a:txBody>
                    <a:bodyPr/>
                    <a:lstStyle/>
                    <a:p>
                      <a:r>
                        <a:rPr lang="en-US" sz="2000" dirty="0">
                          <a:latin typeface="Times New Roman" panose="02020603050405020304" pitchFamily="18" charset="0"/>
                          <a:cs typeface="Times New Roman" panose="02020603050405020304" pitchFamily="18" charset="0"/>
                        </a:rPr>
                        <a:t>Do you think people judge others on based on their online personality?</a:t>
                      </a:r>
                    </a:p>
                  </a:txBody>
                  <a:tcPr/>
                </a:tc>
                <a:tc>
                  <a:txBody>
                    <a:bodyPr/>
                    <a:lstStyle/>
                    <a:p>
                      <a:r>
                        <a:rPr lang="en-US" sz="2000" dirty="0">
                          <a:latin typeface="Times New Roman" panose="02020603050405020304" pitchFamily="18" charset="0"/>
                          <a:cs typeface="Times New Roman" panose="02020603050405020304" pitchFamily="18" charset="0"/>
                        </a:rPr>
                        <a:t>Almost half(45.5%) respondents think people judge others while others were unsure about it.</a:t>
                      </a:r>
                    </a:p>
                  </a:txBody>
                  <a:tcPr/>
                </a:tc>
                <a:extLst>
                  <a:ext uri="{0D108BD9-81ED-4DB2-BD59-A6C34878D82A}">
                    <a16:rowId xmlns:a16="http://schemas.microsoft.com/office/drawing/2014/main" val="1186648181"/>
                  </a:ext>
                </a:extLst>
              </a:tr>
              <a:tr h="13170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kern="1200"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kern="1200" dirty="0">
                          <a:solidFill>
                            <a:schemeClr val="tx1"/>
                          </a:solidFill>
                          <a:effectLst/>
                          <a:latin typeface="Times New Roman" panose="02020603050405020304" pitchFamily="18" charset="0"/>
                          <a:cs typeface="Times New Roman" panose="02020603050405020304" pitchFamily="18" charset="0"/>
                        </a:rPr>
                        <a:t>How do you think people should represent themselves on social media?</a:t>
                      </a:r>
                      <a:endParaRPr lang="en-US" sz="2000" b="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Some respondents believe people should present themselves as they truly are, while others think they should present themselves in whatever way feels comfortable.</a:t>
                      </a:r>
                    </a:p>
                  </a:txBody>
                  <a:tcPr/>
                </a:tc>
                <a:extLst>
                  <a:ext uri="{0D108BD9-81ED-4DB2-BD59-A6C34878D82A}">
                    <a16:rowId xmlns:a16="http://schemas.microsoft.com/office/drawing/2014/main" val="2774930175"/>
                  </a:ext>
                </a:extLst>
              </a:tr>
            </a:tbl>
          </a:graphicData>
        </a:graphic>
      </p:graphicFrame>
      <p:sp>
        <p:nvSpPr>
          <p:cNvPr id="8" name="TextBox 7">
            <a:extLst>
              <a:ext uri="{FF2B5EF4-FFF2-40B4-BE49-F238E27FC236}">
                <a16:creationId xmlns:a16="http://schemas.microsoft.com/office/drawing/2014/main" id="{D881C8B1-56B8-ACC0-9CBD-2AA81AF43E5B}"/>
              </a:ext>
            </a:extLst>
          </p:cNvPr>
          <p:cNvSpPr txBox="1"/>
          <p:nvPr/>
        </p:nvSpPr>
        <p:spPr>
          <a:xfrm>
            <a:off x="2203704" y="402181"/>
            <a:ext cx="8415528" cy="707886"/>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 📉</a:t>
            </a:r>
            <a:r>
              <a:rPr lang="en-US" sz="4000" b="1" u="sng" dirty="0">
                <a:latin typeface="Times New Roman" panose="02020603050405020304" pitchFamily="18" charset="0"/>
                <a:cs typeface="Times New Roman" panose="02020603050405020304" pitchFamily="18" charset="0"/>
              </a:rPr>
              <a:t>Survey Questions and Responses</a:t>
            </a:r>
          </a:p>
        </p:txBody>
      </p:sp>
    </p:spTree>
    <p:extLst>
      <p:ext uri="{BB962C8B-B14F-4D97-AF65-F5344CB8AC3E}">
        <p14:creationId xmlns:p14="http://schemas.microsoft.com/office/powerpoint/2010/main" val="795940639"/>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0C984F-6424-5D94-6CD4-2FEA264C933E}"/>
              </a:ext>
            </a:extLst>
          </p:cNvPr>
          <p:cNvSpPr txBox="1"/>
          <p:nvPr/>
        </p:nvSpPr>
        <p:spPr>
          <a:xfrm>
            <a:off x="268224" y="1340368"/>
            <a:ext cx="11350752" cy="581697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Level of Authenticity:</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The majority of participants do not behave 100% the same online as in real life. This indicates that online spaces allow selective self-presentation.</a:t>
            </a:r>
          </a:p>
          <a:p>
            <a:pPr algn="just"/>
            <a:r>
              <a:rPr lang="en-US" sz="2400" b="1" dirty="0">
                <a:latin typeface="Times New Roman" panose="02020603050405020304" pitchFamily="18" charset="0"/>
                <a:cs typeface="Times New Roman" panose="02020603050405020304" pitchFamily="18" charset="0"/>
              </a:rPr>
              <a:t>Confidence Factor:</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The data suggests that online platforms give users a sense of safety, making them more confident and expressive. </a:t>
            </a:r>
          </a:p>
          <a:p>
            <a:pPr algn="just"/>
            <a:r>
              <a:rPr lang="en-US" sz="2400" b="1" dirty="0">
                <a:latin typeface="Times New Roman" panose="02020603050405020304" pitchFamily="18" charset="0"/>
                <a:cs typeface="Times New Roman" panose="02020603050405020304" pitchFamily="18" charset="0"/>
              </a:rPr>
              <a:t>Social Image Building:</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Many respondents intentionally present a polished version of themselves (enhanced self-presentation, highlighting select achievements). This shows that social platforms promote impression management.</a:t>
            </a: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Privacy Concerns: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Some participants are cautious about oversharing or receiving negative feedback, leading them to hide personal traits. This illustrates how </a:t>
            </a:r>
            <a:r>
              <a:rPr lang="en-US" sz="2400" b="1" dirty="0">
                <a:latin typeface="Times New Roman" panose="02020603050405020304" pitchFamily="18" charset="0"/>
                <a:cs typeface="Times New Roman" panose="02020603050405020304" pitchFamily="18" charset="0"/>
              </a:rPr>
              <a:t>social pressures</a:t>
            </a:r>
            <a:r>
              <a:rPr lang="en-US" sz="2400" dirty="0">
                <a:latin typeface="Times New Roman" panose="02020603050405020304" pitchFamily="18" charset="0"/>
                <a:cs typeface="Times New Roman" panose="02020603050405020304" pitchFamily="18" charset="0"/>
              </a:rPr>
              <a:t> influence online behavior.</a:t>
            </a:r>
          </a:p>
          <a:p>
            <a:pPr algn="just"/>
            <a:br>
              <a:rPr lang="en-US" dirty="0"/>
            </a:br>
            <a:endParaRPr lang="en-US" dirty="0"/>
          </a:p>
        </p:txBody>
      </p:sp>
      <p:sp>
        <p:nvSpPr>
          <p:cNvPr id="3" name="TextBox 2">
            <a:extLst>
              <a:ext uri="{FF2B5EF4-FFF2-40B4-BE49-F238E27FC236}">
                <a16:creationId xmlns:a16="http://schemas.microsoft.com/office/drawing/2014/main" id="{B1CB9C2D-B8A3-BB34-C1BD-F2BC262891DD}"/>
              </a:ext>
            </a:extLst>
          </p:cNvPr>
          <p:cNvSpPr txBox="1"/>
          <p:nvPr/>
        </p:nvSpPr>
        <p:spPr>
          <a:xfrm>
            <a:off x="4413504" y="406181"/>
            <a:ext cx="3364992" cy="707886"/>
          </a:xfrm>
          <a:prstGeom prst="rect">
            <a:avLst/>
          </a:prstGeom>
          <a:noFill/>
        </p:spPr>
        <p:txBody>
          <a:bodyPr wrap="square" rtlCol="0">
            <a:spAutoFit/>
          </a:bodyPr>
          <a:lstStyle/>
          <a:p>
            <a:pPr algn="ctr"/>
            <a:r>
              <a:rPr lang="en-US" sz="4000" b="1" u="sng" dirty="0">
                <a:latin typeface="Times New Roman" panose="02020603050405020304" pitchFamily="18" charset="0"/>
                <a:cs typeface="Times New Roman" panose="02020603050405020304" pitchFamily="18" charset="0"/>
              </a:rPr>
              <a:t>Findings</a:t>
            </a:r>
          </a:p>
        </p:txBody>
      </p:sp>
      <p:pic>
        <p:nvPicPr>
          <p:cNvPr id="7" name="Graphic 6" descr="Puzzle pieces">
            <a:extLst>
              <a:ext uri="{FF2B5EF4-FFF2-40B4-BE49-F238E27FC236}">
                <a16:creationId xmlns:a16="http://schemas.microsoft.com/office/drawing/2014/main" id="{03633470-871A-25B7-1A90-F676F961B0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41520" y="517408"/>
            <a:ext cx="548640" cy="596659"/>
          </a:xfrm>
          <a:prstGeom prst="rect">
            <a:avLst/>
          </a:prstGeom>
        </p:spPr>
      </p:pic>
    </p:spTree>
    <p:extLst>
      <p:ext uri="{BB962C8B-B14F-4D97-AF65-F5344CB8AC3E}">
        <p14:creationId xmlns:p14="http://schemas.microsoft.com/office/powerpoint/2010/main" val="72179048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2714D0-7AEE-CAFC-9086-628B3C4D0869}"/>
              </a:ext>
            </a:extLst>
          </p:cNvPr>
          <p:cNvSpPr txBox="1"/>
          <p:nvPr/>
        </p:nvSpPr>
        <p:spPr>
          <a:xfrm>
            <a:off x="3011424" y="633984"/>
            <a:ext cx="6364224" cy="707886"/>
          </a:xfrm>
          <a:prstGeom prst="rect">
            <a:avLst/>
          </a:prstGeom>
          <a:noFill/>
        </p:spPr>
        <p:txBody>
          <a:bodyPr wrap="square" rtlCol="0">
            <a:spAutoFit/>
          </a:bodyPr>
          <a:lstStyle/>
          <a:p>
            <a:r>
              <a:rPr lang="en-US" sz="4000" b="1" u="sng" dirty="0">
                <a:latin typeface="Times New Roman" panose="02020603050405020304" pitchFamily="18" charset="0"/>
                <a:cs typeface="Times New Roman" panose="02020603050405020304" pitchFamily="18" charset="0"/>
              </a:rPr>
              <a:t>📜Analysis / Interpretation</a:t>
            </a:r>
          </a:p>
        </p:txBody>
      </p:sp>
      <p:sp>
        <p:nvSpPr>
          <p:cNvPr id="6" name="Rectangle 1">
            <a:extLst>
              <a:ext uri="{FF2B5EF4-FFF2-40B4-BE49-F238E27FC236}">
                <a16:creationId xmlns:a16="http://schemas.microsoft.com/office/drawing/2014/main" id="{EB751B28-EC3E-D26E-DE6B-982106C04133}"/>
              </a:ext>
            </a:extLst>
          </p:cNvPr>
          <p:cNvSpPr>
            <a:spLocks noChangeArrowheads="1"/>
          </p:cNvSpPr>
          <p:nvPr/>
        </p:nvSpPr>
        <p:spPr bwMode="auto">
          <a:xfrm rot="10800000" flipV="1">
            <a:off x="426720" y="1667977"/>
            <a:ext cx="1133856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people do not present their full, real selves online.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participants said they sometimes edit their posts or act differently to appear more confident or likable.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shows that social media often encourages people to show a “best version” of themselves rather than their true personality.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participants also shared that being online gives them the freedom to express thoughts they cannot share in real life.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while the internet can create fake or improved impressions, it can also allow people to reveal hidden parts of their personality.</a:t>
            </a:r>
          </a:p>
        </p:txBody>
      </p:sp>
    </p:spTree>
    <p:extLst>
      <p:ext uri="{BB962C8B-B14F-4D97-AF65-F5344CB8AC3E}">
        <p14:creationId xmlns:p14="http://schemas.microsoft.com/office/powerpoint/2010/main" val="120261871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E04C83-5566-F30D-6626-C615CBD72831}"/>
              </a:ext>
            </a:extLst>
          </p:cNvPr>
          <p:cNvSpPr txBox="1"/>
          <p:nvPr/>
        </p:nvSpPr>
        <p:spPr>
          <a:xfrm>
            <a:off x="2051539" y="2601053"/>
            <a:ext cx="8088922" cy="4062651"/>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In conclusion, the survey reveals a strong trend toward authenticity, with a majority of users presenting an online personality that closely mirrors their real-life identity and using their original photos. However, the data also shows a nuanced reality, where a significant portion of individuals feel more confident online or occasionally adapt their image for reasons of privacy, comfort, or social perception. This indicates that while the digital self is largely genuine, it can also be a subtly curated version of reality.</a:t>
            </a:r>
          </a:p>
          <a:p>
            <a:pPr algn="just"/>
            <a:br>
              <a:rPr lang="en-US" dirty="0"/>
            </a:br>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6E49054-AAF2-9DC9-4307-4406514C639A}"/>
              </a:ext>
            </a:extLst>
          </p:cNvPr>
          <p:cNvSpPr txBox="1"/>
          <p:nvPr/>
        </p:nvSpPr>
        <p:spPr>
          <a:xfrm>
            <a:off x="3458308" y="1258339"/>
            <a:ext cx="5052646" cy="707886"/>
          </a:xfrm>
          <a:prstGeom prst="rect">
            <a:avLst/>
          </a:prstGeom>
          <a:noFill/>
        </p:spPr>
        <p:txBody>
          <a:bodyPr wrap="square" rtlCol="0">
            <a:spAutoFit/>
          </a:bodyPr>
          <a:lstStyle/>
          <a:p>
            <a:pPr algn="ctr"/>
            <a:r>
              <a:rPr lang="en-US" sz="4000" u="sng" dirty="0">
                <a:latin typeface="Times New Roman" panose="02020603050405020304" pitchFamily="18" charset="0"/>
                <a:cs typeface="Times New Roman" panose="02020603050405020304" pitchFamily="18" charset="0"/>
              </a:rPr>
              <a:t>🏷️ </a:t>
            </a:r>
            <a:r>
              <a:rPr lang="en-US" sz="4000" b="1" u="sng"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6351589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871</TotalTime>
  <Words>994</Words>
  <Application>Microsoft Office PowerPoint</Application>
  <PresentationFormat>Widescreen</PresentationFormat>
  <Paragraphs>95</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Times New Roman</vt:lpstr>
      <vt:lpstr>Tw Cen MT</vt:lpstr>
      <vt:lpstr>Wingdings</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FSD</dc:creator>
  <cp:lastModifiedBy>Zaineb asif</cp:lastModifiedBy>
  <cp:revision>15</cp:revision>
  <dcterms:created xsi:type="dcterms:W3CDTF">2025-11-06T15:04:12Z</dcterms:created>
  <dcterms:modified xsi:type="dcterms:W3CDTF">2025-11-20T04:29:46Z</dcterms:modified>
</cp:coreProperties>
</file>